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92" r:id="rId3"/>
    <p:sldId id="293" r:id="rId4"/>
    <p:sldId id="294" r:id="rId5"/>
    <p:sldId id="295" r:id="rId6"/>
    <p:sldId id="296" r:id="rId7"/>
    <p:sldId id="265" r:id="rId8"/>
    <p:sldId id="267" r:id="rId9"/>
    <p:sldId id="297" r:id="rId10"/>
    <p:sldId id="298" r:id="rId11"/>
    <p:sldId id="277" r:id="rId12"/>
    <p:sldId id="278" r:id="rId13"/>
    <p:sldId id="280" r:id="rId14"/>
    <p:sldId id="285" r:id="rId15"/>
    <p:sldId id="281" r:id="rId16"/>
    <p:sldId id="275" r:id="rId17"/>
    <p:sldId id="299" r:id="rId18"/>
    <p:sldId id="286" r:id="rId19"/>
    <p:sldId id="287" r:id="rId20"/>
    <p:sldId id="288" r:id="rId21"/>
    <p:sldId id="289" r:id="rId22"/>
    <p:sldId id="290" r:id="rId23"/>
    <p:sldId id="300" r:id="rId24"/>
    <p:sldId id="301" r:id="rId25"/>
    <p:sldId id="302" r:id="rId26"/>
    <p:sldId id="308" r:id="rId27"/>
    <p:sldId id="304" r:id="rId28"/>
    <p:sldId id="305" r:id="rId29"/>
    <p:sldId id="306" r:id="rId30"/>
    <p:sldId id="270" r:id="rId31"/>
    <p:sldId id="271" r:id="rId32"/>
  </p:sldIdLst>
  <p:sldSz cx="12192000" cy="6858000"/>
  <p:notesSz cx="6858000" cy="12192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7F9"/>
    <a:srgbClr val="087F8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635837-F578-47F1-B383-C313BE0D11E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逐頁講稿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各位老師、同學大家好。這次要介紹的是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XGBoost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LightGBM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，並說明我們為什麼選擇這兩個方法，來研究國道三號北上瓶頸路段的壅塞預測。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我們最終希望做到的是：在某個時間點，利用當時已取得的車流與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相關資訊，預測接下來是否會塞車。今天會先介紹兩個模型的共同原理，再比較它們的差異，最後說明研究中的預測設計。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技術補充與來源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本簡報介紹兩種梯度提升樹方法，並說明本研究選用理由。研究應用為國道三號北上龍潭至大溪附近，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車流與同時段壅塞的預測關聯。尚未進行模型實證比較。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BAA749-0A86-4C2B-AE17-FF00C4AD37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80CE-7CB0-D919-C4FC-1481DBAD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E70CB-5B15-B82C-590A-24CBEEF30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9EDBB-1556-CCA6-D8DC-304D5E28B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D38D3-40E5-380C-2B07-F9E153F33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23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F9635837-F578-47F1-B383-C313BE0D11E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9531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各位老師、同學大家好。接續前面的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分群與需求型態辨識，這一段介紹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XGBoost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LightGBM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。兩者都屬於梯度提升決策樹，我們會先講共同原理，再比較設計差異與研究中的使用理由。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CED897-3426-4A4A-9454-BFA8B35676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逐頁講稿</a:t>
            </a:r>
          </a:p>
          <a:p>
            <a:r>
              <a:t>XGBoost 和 LightGBM 都屬於梯度提升決策樹。核心概念是逐輪加入新的決策樹，讓新樹補足目前模型還沒學好的部分。它們採用序列式的提升過程。</a:t>
            </a:r>
          </a:p>
          <a:p>
            <a:endParaRPr/>
          </a:p>
          <a:p>
            <a:r>
              <a:t>第一個公式表示，這一輪的分數等於上一輪的分數，再加上新樹的修正；其中 eta 是學習率，用來控制每次更新的幅度。模型依照損失函數的梯度資訊決定修正方向，不能把所有分類問題都簡化為直接擬合原始殘差。</a:t>
            </a:r>
          </a:p>
          <a:p>
            <a:endParaRPr/>
          </a:p>
          <a:p>
            <a:r>
              <a:t>在二元分類中，各棵樹輸出的分數累加後，再透過下面的 logistic 函數轉成零到一之間的預測機率。我們就用這個機率，表示模型預測的未來壅塞風險。</a:t>
            </a:r>
          </a:p>
          <a:p>
            <a:endParaRPr/>
          </a:p>
          <a:p>
            <a:r>
              <a:t>技術補充與來源</a:t>
            </a:r>
          </a:p>
          <a:p>
            <a:r>
              <a:t>Chen, T. &amp; Guestrin, C. (2016). XGBoost: A Scalable Tree Boosting System. KDD. https://doi.org/10.1145/2939672.2939785</a:t>
            </a:r>
          </a:p>
          <a:p>
            <a:r>
              <a:t>https://arxiv.org/html/1603.02754v3</a:t>
            </a:r>
          </a:p>
          <a:p>
            <a:r>
              <a:t>講稿：Boosting以序列方式加入新樹，每一輪針對目前損失函數的梯度資訊修正預測。平方誤差下負梯度等於殘差，二元分類則不能一概稱為原始殘差。二元分類先累加分數，再經logistic函數轉為機率。η是學習率，f_m為第m棵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逐頁講稿</a:t>
            </a:r>
          </a:p>
          <a:p>
            <a:r>
              <a:t>XGBoost 的重要特色，是在降低預測損失的同時，也對樹的複雜度加入懲罰。投影片的公式中，T 代表葉節點數量，w 代表葉節點輸出的分數，gamma 與 lambda 則控制懲罰強度。</a:t>
            </a:r>
          </a:p>
          <a:p>
            <a:endParaRPr/>
          </a:p>
          <a:p>
            <a:r>
              <a:t>直觀來說，增加很多分裂雖然可能把訓練資料學得更好，但也可能把偶然波動一起學進去。複雜度懲罰可以減少這種情況，仍然需要用驗證資料確認泛化表現。</a:t>
            </a:r>
          </a:p>
          <a:p>
            <a:endParaRPr/>
          </a:p>
          <a:p>
            <a:r>
              <a:t>在計算上，XGBoost 使用一階梯度與二階導數，也就是 Hessian，評估分裂與葉節點分數。我們可以透過樹深、正則化、學習率與早停，控制模型的彈性。</a:t>
            </a:r>
          </a:p>
          <a:p>
            <a:endParaRPr/>
          </a:p>
          <a:p>
            <a:r>
              <a:t>技術補充與來源</a:t>
            </a:r>
          </a:p>
          <a:p>
            <a:r>
              <a:t>Chen, T. &amp; Guestrin, C. (2016). XGBoost: A Scalable Tree Boosting System. KDD. https://doi.org/10.1145/2939672.2939785</a:t>
            </a:r>
          </a:p>
          <a:p>
            <a:r>
              <a:t>https://arxiv.org/html/1603.02754v3</a:t>
            </a:r>
          </a:p>
          <a:p>
            <a:r>
              <a:t>講稿：每輪使用一階梯度g與二階導數h，近似新增一棵樹後的損失。葉節點權重的L2懲罰與葉數懲罰抑制過度複雜的樹。對葉j，令G_j=sum(g_i)、H_j=sum(h_i)，最適權重w_j=-G_j/(H_j+λ)。二元logistic的未加權損失有g_i=p_i-y_i、h_i=p_i(1-p_i)。正則化不保證完全避免過擬合，仍需時間驗證集與早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BA3E7-BEEE-6F60-7E19-AC750797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83AF3-5717-D9E8-6B8A-5ACFCD1B5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30A5F-E8A2-E885-F4E1-AE7A99FDA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逐頁講稿</a:t>
            </a:r>
          </a:p>
          <a:p>
            <a:r>
              <a:t>XGBoost 的重要特色，是在降低預測損失的同時，也對樹的複雜度加入懲罰。投影片的公式中，T 代表葉節點數量，w 代表葉節點輸出的分數，gamma 與 lambda 則控制懲罰強度。</a:t>
            </a:r>
          </a:p>
          <a:p>
            <a:endParaRPr/>
          </a:p>
          <a:p>
            <a:r>
              <a:t>直觀來說，增加很多分裂雖然可能把訓練資料學得更好，但也可能把偶然波動一起學進去。複雜度懲罰可以減少這種情況，仍然需要用驗證資料確認泛化表現。</a:t>
            </a:r>
          </a:p>
          <a:p>
            <a:endParaRPr/>
          </a:p>
          <a:p>
            <a:r>
              <a:t>在計算上，XGBoost 使用一階梯度與二階導數，也就是 Hessian，評估分裂與葉節點分數。我們可以透過樹深、正則化、學習率與早停，控制模型的彈性。</a:t>
            </a:r>
          </a:p>
          <a:p>
            <a:endParaRPr/>
          </a:p>
          <a:p>
            <a:r>
              <a:t>技術補充與來源</a:t>
            </a:r>
          </a:p>
          <a:p>
            <a:r>
              <a:t>Chen, T. &amp; Guestrin, C. (2016). XGBoost: A Scalable Tree Boosting System. KDD. https://doi.org/10.1145/2939672.2939785</a:t>
            </a:r>
          </a:p>
          <a:p>
            <a:r>
              <a:t>https://arxiv.org/html/1603.02754v3</a:t>
            </a:r>
          </a:p>
          <a:p>
            <a:r>
              <a:t>講稿：每輪使用一階梯度g與二階導數h，近似新增一棵樹後的損失。葉節點權重的L2懲罰與葉數懲罰抑制過度複雜的樹。對葉j，令G_j=sum(g_i)、H_j=sum(h_i)，最適權重w_j=-G_j/(H_j+λ)。二元logistic的未加權損失有g_i=p_i-y_i、h_i=p_i(1-p_i)。正則化不保證完全避免過擬合，仍需時間驗證集與早停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73418-7BC6-44FA-0EC9-DE12DC7932B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71791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逐頁講稿</a:t>
            </a:r>
          </a:p>
          <a:p>
            <a:r>
              <a:t>這張圖比較兩種樹的生長策略。左邊的 depth-wise 優先處理比較靠近根部的節點；右邊的 leaf-wise 則選擇目前最能降低損失的葉節點，因此可能集中在某一側繼續分裂。圖是概念示意，並不代表實際樹一定完全對稱或不對稱。</a:t>
            </a:r>
          </a:p>
          <a:p>
            <a:endParaRPr/>
          </a:p>
          <a:p>
            <a:r>
              <a:t>需要特別說明，這不是兩個套件完全互斥的功能。XGBoost 常用的策略是 depthwise，但也能設定 lossguide，依損失改善選擇節點。LightGBM 則採用 leaf-wise，即使限制最大深度，生長原則仍是葉優先。</a:t>
            </a:r>
          </a:p>
          <a:p>
            <a:endParaRPr/>
          </a:p>
          <a:p>
            <a:r>
              <a:t>因此，介紹差異時必須把常用設定與可選功能分開，不能直接說 XGBoost 只能逐層生長。</a:t>
            </a:r>
          </a:p>
          <a:p>
            <a:endParaRPr/>
          </a:p>
          <a:p>
            <a:r>
              <a:t>技術補充與來源</a:t>
            </a:r>
          </a:p>
          <a:p>
            <a:r>
              <a:t>LightGBM official Features: https://lightgbm.readthedocs.io/en/latest/Features.html</a:t>
            </a:r>
          </a:p>
          <a:p>
            <a:r>
              <a:t>XGBoost official Parameters: https://xgboost.readthedocs.io/en/stable/parameter.html</a:t>
            </a:r>
          </a:p>
          <a:p>
            <a:r>
              <a:t>圖片出處：LightGBM官方Features，level-wise.png與leaf-wise.png。圖為生長策略概念示意，不代表XGBoost必然產生完全對稱樹。XGBoost現行grow_policy預設depthwise，也可在hist或approx下使用lossguide。LightGBM即使指定max_depth仍採leaf-wi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逐頁講稿</a:t>
            </a:r>
          </a:p>
          <a:p>
            <a:r>
              <a:t>這張表整理兩者的差異。XGBoost 的設計重點包含正則化與可擴展的樹提升系統；LightGBM 則以 histogram 與 leaf-wise 生長提高樹學習效率。</a:t>
            </a:r>
          </a:p>
          <a:p>
            <a:endParaRPr/>
          </a:p>
          <a:p>
            <a:r>
              <a:t>但是許多功能是共有的。XGBoost 也支援 histogram，LightGBM 也支援 L1、L2 正則化，兩者都能控制模型複雜度。因此不能用只有哪一個模型具備某項功能，來做過度簡化的區分。</a:t>
            </a:r>
          </a:p>
          <a:p>
            <a:endParaRPr/>
          </a:p>
          <a:p>
            <a:r>
              <a:t>至於哪個比較快、哪個比較準，取決於資料、參數、硬體與套件版本。我們會在相同的日期切分與可比較的調參條件下實測，並不預先指定勝出者。</a:t>
            </a:r>
          </a:p>
          <a:p>
            <a:endParaRPr/>
          </a:p>
          <a:p>
            <a:r>
              <a:t>技術補充與來源</a:t>
            </a:r>
          </a:p>
          <a:p>
            <a:r>
              <a:t>XGBoost official Parameters: https://xgboost.readthedocs.io/en/stable/parameter.html</a:t>
            </a:r>
          </a:p>
          <a:p>
            <a:r>
              <a:t>LightGBM official Parameters: https://lightgbm.readthedocs.io/en/latest/Parameters.html</a:t>
            </a:r>
          </a:p>
          <a:p>
            <a:r>
              <a:t>LightGBM official Features: https://lightgbm.readthedocs.io/en/latest/Features.html</a:t>
            </a:r>
          </a:p>
          <a:p>
            <a:r>
              <a:t>講稿：表格描述常用設定與設計重點，非互斥功能清單。兩者都支援二階梯度、缺測處理、正則化與早停。現行XGBoost也有hist與lossguide，LightGBM也有正則化，因此不沿用只有一方具備某功能的過度簡化說法。速度與準確度取決於資料、硬體、參數與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逐頁講稿</a:t>
            </a:r>
          </a:p>
          <a:p>
            <a:r>
              <a:t>我們選用這兩個模型，主要是因為車流與壅塞之間可能存在非線性關係。例如，相同的 OD 車流增量，在離峰和尖峰時段可能對應不同的壅塞風險，雨量也可能改變這個關聯。樹模型可以學習這些條件與交互作用。</a:t>
            </a:r>
          </a:p>
          <a:p>
            <a:endParaRPr/>
          </a:p>
          <a:p>
            <a:r>
              <a:t>另外，我們的輸入是車流、時間、氣象等表格資料，適合用這類模型建立比較，通常也不需要先將所有數值特徵標準化。</a:t>
            </a:r>
          </a:p>
          <a:p>
            <a:endParaRPr/>
          </a:p>
          <a:p>
            <a:r>
              <a:t>使用兩套實作，還能檢查 OD 的額外預測資訊是否在不同設定下仍然出現。要注意，彙總後的模型資料約為二十萬個五分鐘時段，不能把四千多萬筆旅次都當成獨立的模型樣本。</a:t>
            </a:r>
          </a:p>
          <a:p>
            <a:endParaRPr/>
          </a:p>
          <a:p>
            <a:r>
              <a:t>技術補充與來源</a:t>
            </a:r>
          </a:p>
          <a:p>
            <a:r>
              <a:t>Chen, T. &amp; Guestrin, C. (2016). XGBoost: A Scalable Tree Boosting System. KDD. https://doi.org/10.1145/2939672.2939785</a:t>
            </a:r>
          </a:p>
          <a:p>
            <a:r>
              <a:t>https://arxiv.org/html/1603.02754v3</a:t>
            </a:r>
          </a:p>
          <a:p>
            <a:r>
              <a:t>LightGBM official Features: https://lightgbm.readthedocs.io/en/latest/Features.html</a:t>
            </a:r>
          </a:p>
          <a:p>
            <a:r>
              <a:t>以下為研究選模推論，不是已完成實驗的結果。五分鐘彙總後才是模型樣本單位，不應以4,515萬旅次直接宣稱訓練樣本量。樹模型可學習條件交互作用，無須事前指定所有交互作用項。若未來加入更多OD與滯後特徵，計算效率有利於多輪驗證。特徵重要度只能輔助描述模型，不表示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逐頁講稿</a:t>
            </a:r>
          </a:p>
          <a:p>
            <a:r>
              <a:t>方法介紹主要依據 Chen 與 Guestrin 在二〇一六年發表的 XGBoost 論文，以及 Ke 等人在二〇一七年發表的 LightGBM 論文。涉及目前套件能使用哪些功能，則以官方文件補充核對。</a:t>
            </a:r>
          </a:p>
          <a:p>
            <a:endParaRPr/>
          </a:p>
          <a:p>
            <a:r>
              <a:t>我們也閱讀了提供的 CSDN 比較文章，但會注意文章的版本背景，避免把早期差異當成現今固定不變的限制。</a:t>
            </a:r>
          </a:p>
          <a:p>
            <a:endParaRPr/>
          </a:p>
          <a:p>
            <a:r>
              <a:t>這個研究接下來會先確認資料時間與配對，再建立符合資訊取得時點的未來壅塞標籤，最後比較加入 OD 前後的測試表現，評估 OD 對短期壅塞預測的實際價值。我的方法介紹到這裡，謝謝大家。</a:t>
            </a:r>
          </a:p>
          <a:p>
            <a:endParaRPr/>
          </a:p>
          <a:p>
            <a:r>
              <a:t>技術補充與來源</a:t>
            </a:r>
          </a:p>
          <a:p>
            <a:r>
              <a:t>原始論文與官方文件為技術主張依據。另已閱讀使用者提供的CSDN文章，作為內容主題參考，不以其舊版差異敘述取代現行官方文件。</a:t>
            </a:r>
          </a:p>
          <a:p>
            <a:r>
              <a:t>Chen, T. &amp; Guestrin, C. (2016). XGBoost: A Scalable Tree Boosting System. KDD. https://doi.org/10.1145/2939672.2939785</a:t>
            </a:r>
          </a:p>
          <a:p>
            <a:r>
              <a:t>https://arxiv.org/html/1603.02754v3</a:t>
            </a:r>
          </a:p>
          <a:p>
            <a:endParaRPr/>
          </a:p>
          <a:p>
            <a:r>
              <a:t>Ke, G. et al. (2017). LightGBM: A Highly Efficient Gradient Boosting Decision Tree. NIPS 30. https://papers.nips.cc/paper/6907-lightgbm-a-highly-efficient-gradient-boosting-decision-tree</a:t>
            </a:r>
          </a:p>
          <a:p>
            <a:endParaRPr/>
          </a:p>
          <a:p>
            <a:r>
              <a:t>LightGBM official Features: https://lightgbm.readthedocs.io/en/latest/Features.html</a:t>
            </a:r>
          </a:p>
          <a:p>
            <a:endParaRPr/>
          </a:p>
          <a:p>
            <a:r>
              <a:t>XGBoost official Parameters: https://xgboost.readthedocs.io/en/stable/parameter.html</a:t>
            </a:r>
          </a:p>
          <a:p>
            <a:endParaRPr/>
          </a:p>
          <a:p>
            <a:r>
              <a:t>LightGBM official Parameters: https://lightgbm.readthedocs.io/en/latest/Parameters.html</a:t>
            </a:r>
          </a:p>
          <a:p>
            <a:r>
              <a:t>使用者提供文章：https://blog.csdn.net/fengdu78/article/details/123469731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icrosoft JhengHe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B7F83"/>
          </a:solidFill>
          <a:ln w="12700">
            <a:solidFill>
              <a:srgbClr val="0B7F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129A8DC-E64D-5CE5-3E78-24AD473C6BF3}"/>
              </a:ext>
            </a:extLst>
          </p:cNvPr>
          <p:cNvSpPr/>
          <p:nvPr/>
        </p:nvSpPr>
        <p:spPr>
          <a:xfrm>
            <a:off x="804672" y="93268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國道三號瓶頸路段之</a:t>
            </a:r>
            <a:endParaRPr lang="en-US" sz="29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30FC0F4-49EA-E29C-54CA-345D27A9BCF4}"/>
              </a:ext>
            </a:extLst>
          </p:cNvPr>
          <p:cNvSpPr/>
          <p:nvPr/>
        </p:nvSpPr>
        <p:spPr>
          <a:xfrm>
            <a:off x="804672" y="174650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交通需求探索與預測方法探討</a:t>
            </a:r>
            <a:endParaRPr lang="en-US" sz="36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773AA20-D24B-F0CB-E300-33DA44B1A8BA}"/>
              </a:ext>
            </a:extLst>
          </p:cNvPr>
          <p:cNvSpPr/>
          <p:nvPr/>
        </p:nvSpPr>
        <p:spPr>
          <a:xfrm>
            <a:off x="841248" y="2907792"/>
            <a:ext cx="10332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8ED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以大溪－龍潭北向路段為例｜統計實務專題進度報告</a:t>
            </a:r>
            <a:endParaRPr lang="en-US" sz="18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1E9A3BC-B27E-3744-E799-9CB658F9AAC2}"/>
              </a:ext>
            </a:extLst>
          </p:cNvPr>
          <p:cNvSpPr/>
          <p:nvPr/>
        </p:nvSpPr>
        <p:spPr>
          <a:xfrm>
            <a:off x="841248" y="4087368"/>
            <a:ext cx="10149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TW" altLang="en-US" sz="1700" dirty="0">
                <a:solidFill>
                  <a:schemeClr val="bg1"/>
                </a:solidFill>
              </a:rPr>
              <a:t>組員</a:t>
            </a:r>
            <a:r>
              <a:rPr lang="en-US" altLang="zh-TW" sz="1700" dirty="0">
                <a:solidFill>
                  <a:schemeClr val="bg1"/>
                </a:solidFill>
              </a:rPr>
              <a:t>:</a:t>
            </a:r>
            <a:r>
              <a:rPr lang="zh-TW" altLang="en-US" sz="1700" dirty="0">
                <a:solidFill>
                  <a:schemeClr val="bg1"/>
                </a:solidFill>
              </a:rPr>
              <a:t>鍾艾珊、鄭筱蓓、陳昆侑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88591"/>
          </a:solidFill>
          <a:ln w="10160">
            <a:solidFill>
              <a:srgbClr val="08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300" b="0">
                <a:solidFill>
                  <a:srgbClr val="12324C"/>
                </a:solidFill>
                <a:latin typeface="Microsoft JhengHei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088591"/>
                </a:solidFill>
                <a:latin typeface="Microsoft JhengHei"/>
              </a:defRPr>
            </a:pPr>
            <a:r>
              <a:t>研究架構｜整體分析流程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097280"/>
            <a:ext cx="10771632" cy="493776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B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400" b="1">
                <a:solidFill>
                  <a:srgbClr val="12324C"/>
                </a:solidFill>
                <a:latin typeface="Microsoft JhengHei"/>
              </a:defRPr>
            </a:pPr>
            <a:r>
              <a:t>資料來源　M06B／OD 旅次　＋　VD 五分鐘原始資料　＋　天氣　＋　日曆／假期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4476" y="1591056"/>
            <a:ext cx="0" cy="128016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028639" y="1700784"/>
            <a:ext cx="131673" cy="109728"/>
          </a:xfrm>
          <a:prstGeom prst="rect">
            <a:avLst/>
          </a:prstGeom>
          <a:solidFill>
            <a:srgbClr val="088591"/>
          </a:solidFill>
          <a:ln w="10160">
            <a:solidFill>
              <a:srgbClr val="08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300" b="0">
                <a:solidFill>
                  <a:srgbClr val="12324C"/>
                </a:solidFill>
                <a:latin typeface="Microsoft JhengHei"/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5092" y="1810512"/>
            <a:ext cx="1261001" cy="466344"/>
          </a:xfrm>
          <a:prstGeom prst="roundRect">
            <a:avLst/>
          </a:prstGeom>
          <a:solidFill>
            <a:srgbClr val="ECF7F9"/>
          </a:solidFill>
          <a:ln w="10160">
            <a:solidFill>
              <a:srgbClr val="B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400" b="1">
                <a:solidFill>
                  <a:srgbClr val="12324C"/>
                </a:solidFill>
                <a:latin typeface="Microsoft JhengHei"/>
              </a:defRPr>
            </a:pPr>
            <a:r>
              <a:rPr dirty="0" err="1"/>
              <a:t>資料</a:t>
            </a:r>
            <a:r>
              <a:rPr lang="zh-TW" altLang="en-US" sz="1400" b="1" dirty="0">
                <a:solidFill>
                  <a:srgbClr val="1232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清理</a:t>
            </a:r>
            <a:r>
              <a:rPr dirty="0"/>
              <a:t>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4476" y="2295144"/>
            <a:ext cx="0" cy="128016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028639" y="2404872"/>
            <a:ext cx="131673" cy="109728"/>
          </a:xfrm>
          <a:prstGeom prst="rect">
            <a:avLst/>
          </a:prstGeom>
          <a:solidFill>
            <a:srgbClr val="088591"/>
          </a:solidFill>
          <a:ln w="10160">
            <a:solidFill>
              <a:srgbClr val="08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300" b="0">
                <a:solidFill>
                  <a:srgbClr val="12324C"/>
                </a:solidFill>
                <a:latin typeface="Microsoft JhengHei"/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21234" y="2537460"/>
            <a:ext cx="1188719" cy="466344"/>
          </a:xfrm>
          <a:prstGeom prst="roundRect">
            <a:avLst/>
          </a:prstGeom>
          <a:solidFill>
            <a:srgbClr val="ECF7F9"/>
          </a:solidFill>
          <a:ln w="10160">
            <a:solidFill>
              <a:srgbClr val="B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400" b="1">
                <a:solidFill>
                  <a:srgbClr val="12324C"/>
                </a:solidFill>
                <a:latin typeface="Microsoft JhengHei"/>
              </a:defRPr>
            </a:pPr>
            <a:r>
              <a:rPr dirty="0"/>
              <a:t>EDA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4476" y="2999232"/>
            <a:ext cx="0" cy="128016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28639" y="3108960"/>
            <a:ext cx="131673" cy="109728"/>
          </a:xfrm>
          <a:prstGeom prst="rect">
            <a:avLst/>
          </a:prstGeom>
          <a:solidFill>
            <a:srgbClr val="088591"/>
          </a:solidFill>
          <a:ln w="10160">
            <a:solidFill>
              <a:srgbClr val="08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300" b="0">
                <a:solidFill>
                  <a:srgbClr val="12324C"/>
                </a:solidFill>
                <a:latin typeface="Microsoft JhengHei"/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21992" y="3236976"/>
            <a:ext cx="7735824" cy="448056"/>
          </a:xfrm>
          <a:prstGeom prst="roundRect">
            <a:avLst/>
          </a:prstGeom>
          <a:solidFill>
            <a:srgbClr val="ECF7F9"/>
          </a:solidFill>
          <a:ln w="10160">
            <a:solidFill>
              <a:srgbClr val="B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400" b="1">
                <a:solidFill>
                  <a:srgbClr val="12324C"/>
                </a:solidFill>
                <a:latin typeface="Microsoft JhengHei"/>
              </a:defRPr>
            </a:pPr>
            <a:r>
              <a:t>OD 特徵建構　｜　16,350 組 OD 的時間與需求特徵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" y="3685032"/>
            <a:ext cx="0" cy="128016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28639" y="3794759"/>
            <a:ext cx="131673" cy="109728"/>
          </a:xfrm>
          <a:prstGeom prst="rect">
            <a:avLst/>
          </a:prstGeom>
          <a:solidFill>
            <a:srgbClr val="088591"/>
          </a:solidFill>
          <a:ln w="10160">
            <a:solidFill>
              <a:srgbClr val="08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300" b="0">
                <a:solidFill>
                  <a:srgbClr val="12324C"/>
                </a:solidFill>
                <a:latin typeface="Microsoft JhengHei"/>
              </a:defRPr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103120" y="3922776"/>
            <a:ext cx="7982712" cy="475488"/>
          </a:xfrm>
          <a:prstGeom prst="roundRect">
            <a:avLst/>
          </a:prstGeom>
          <a:solidFill>
            <a:srgbClr val="EDF8F6"/>
          </a:solidFill>
          <a:ln w="10160">
            <a:solidFill>
              <a:srgbClr val="7FC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400" b="1">
                <a:solidFill>
                  <a:srgbClr val="12324C"/>
                </a:solidFill>
                <a:latin typeface="Microsoft JhengHei"/>
              </a:defRPr>
            </a:pPr>
            <a:r>
              <a:rPr dirty="0"/>
              <a:t>OD </a:t>
            </a:r>
            <a:r>
              <a:rPr dirty="0" err="1"/>
              <a:t>分群</a:t>
            </a:r>
            <a:r>
              <a:rPr dirty="0"/>
              <a:t>　｜　</a:t>
            </a:r>
            <a:r>
              <a:rPr dirty="0" err="1"/>
              <a:t>K-means、Hierarchical、DBSCAN、GMM</a:t>
            </a:r>
            <a:endParaRPr dirty="0"/>
          </a:p>
        </p:txBody>
      </p:sp>
      <p:cxnSp>
        <p:nvCxnSpPr>
          <p:cNvPr id="18" name="Connector 17"/>
          <p:cNvCxnSpPr/>
          <p:nvPr/>
        </p:nvCxnSpPr>
        <p:spPr>
          <a:xfrm>
            <a:off x="6094476" y="4398264"/>
            <a:ext cx="0" cy="192024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73552" y="4590288"/>
            <a:ext cx="5632704" cy="0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73552" y="4590288"/>
            <a:ext cx="0" cy="155448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06256" y="4590288"/>
            <a:ext cx="0" cy="155448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414016" y="4608576"/>
            <a:ext cx="1728216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000" b="0">
                <a:solidFill>
                  <a:srgbClr val="5A7487"/>
                </a:solidFill>
                <a:latin typeface="Microsoft JhengHei"/>
              </a:defRPr>
            </a:pPr>
            <a:r>
              <a:t>OD 群組特徵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4608576"/>
            <a:ext cx="1728216" cy="22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000" b="0">
                <a:solidFill>
                  <a:srgbClr val="5A7487"/>
                </a:solidFill>
                <a:latin typeface="Microsoft JhengHei"/>
              </a:defRPr>
            </a:pPr>
            <a:r>
              <a:t>OD 群組特徵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855464"/>
            <a:ext cx="5074920" cy="758952"/>
          </a:xfrm>
          <a:prstGeom prst="roundRect">
            <a:avLst/>
          </a:prstGeom>
          <a:solidFill>
            <a:srgbClr val="E3F8F9"/>
          </a:solidFill>
          <a:ln w="10160">
            <a:solidFill>
              <a:srgbClr val="08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500" b="1">
                <a:solidFill>
                  <a:srgbClr val="12324C"/>
                </a:solidFill>
                <a:latin typeface="Microsoft JhengHei"/>
              </a:defRPr>
            </a:pPr>
            <a:r>
              <a:t>統計模型｜Logistic Regression</a:t>
            </a:r>
          </a:p>
          <a:p>
            <a:pPr algn="ctr">
              <a:defRPr sz="1400" b="0">
                <a:solidFill>
                  <a:srgbClr val="12324C"/>
                </a:solidFill>
                <a:latin typeface="Microsoft JhengHei"/>
              </a:defRPr>
            </a:pPr>
            <a:r>
              <a:t>低速事件機率、係數與解釋性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55464"/>
            <a:ext cx="5074920" cy="758952"/>
          </a:xfrm>
          <a:prstGeom prst="roundRect">
            <a:avLst/>
          </a:prstGeom>
          <a:solidFill>
            <a:srgbClr val="E6F6EB"/>
          </a:solidFill>
          <a:ln w="10160">
            <a:solidFill>
              <a:srgbClr val="30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500" b="1">
                <a:solidFill>
                  <a:srgbClr val="12324C"/>
                </a:solidFill>
                <a:latin typeface="Microsoft JhengHei"/>
              </a:defRPr>
            </a:pPr>
            <a:r>
              <a:t>機器學習模型｜XGBoost／LightGBM</a:t>
            </a:r>
          </a:p>
          <a:p>
            <a:pPr algn="ctr">
              <a:defRPr sz="1400" b="0">
                <a:solidFill>
                  <a:srgbClr val="12324C"/>
                </a:solidFill>
                <a:latin typeface="Microsoft JhengHei"/>
              </a:defRPr>
            </a:pPr>
            <a:r>
              <a:t>非線性預測、重要變數與預測效能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73552" y="5614416"/>
            <a:ext cx="0" cy="192024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06256" y="5614416"/>
            <a:ext cx="0" cy="192024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73552" y="5806440"/>
            <a:ext cx="5632704" cy="0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4476" y="5806440"/>
            <a:ext cx="0" cy="91440"/>
          </a:xfrm>
          <a:prstGeom prst="line">
            <a:avLst/>
          </a:prstGeom>
          <a:ln w="26670">
            <a:solidFill>
              <a:srgbClr val="08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28639" y="5879592"/>
            <a:ext cx="131673" cy="109728"/>
          </a:xfrm>
          <a:prstGeom prst="rect">
            <a:avLst/>
          </a:prstGeom>
          <a:solidFill>
            <a:srgbClr val="088591"/>
          </a:solidFill>
          <a:ln w="10160">
            <a:solidFill>
              <a:srgbClr val="088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300" b="0">
                <a:solidFill>
                  <a:srgbClr val="12324C"/>
                </a:solidFill>
                <a:latin typeface="Microsoft JhengHei"/>
              </a:defRPr>
            </a:pPr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536192" y="6007608"/>
            <a:ext cx="9116568" cy="429768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B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22860" rIns="82296" bIns="22860" rtlCol="0" anchor="ctr"/>
          <a:lstStyle/>
          <a:p>
            <a:pPr algn="ctr">
              <a:defRPr sz="1300" b="1">
                <a:solidFill>
                  <a:srgbClr val="12324C"/>
                </a:solidFill>
                <a:latin typeface="Microsoft JhengHei"/>
              </a:defRPr>
            </a:pPr>
            <a:r>
              <a:t>模型比較與應用　｜　預測未來 15／30／60 分鐘低速風險、評估與交通管理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第一章｜研究基礎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研究問題：需求不是單一「總車流量」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    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636776"/>
            <a:ext cx="10908792" cy="704088"/>
          </a:xfrm>
          <a:prstGeom prst="roundRect">
            <a:avLst/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77824" y="172821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需求發生於何時？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9584" y="172821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比較平日、週末、連假與不同時段的需求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05456"/>
            <a:ext cx="10908792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77824" y="259689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哪些旅次形成需求？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9584" y="259689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辨識主要 OD、旅次距離、車種與重複出現車輛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10908792" cy="704088"/>
          </a:xfrm>
          <a:prstGeom prst="roundRect">
            <a:avLst/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877824" y="346557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外部情境有何差異？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9584" y="34655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比較日期、假期階段與氣象條件下的需求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42816"/>
            <a:ext cx="10908792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77824" y="43342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如何銜接模型？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9584" y="433425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16,350 組 OD 歸納成需求模式，再對齊 VD 交通狀態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第一章｜研究基礎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研究範圍與三個觀測層級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9496" y="120700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M06B 旅次紀錄整合瓶頸通過時間、VD Speed／Occupancy 與氣象欄位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    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6692" y="1715266"/>
            <a:ext cx="2143614" cy="984520"/>
          </a:xfrm>
          <a:prstGeom prst="roundRect">
            <a:avLst>
              <a:gd name="adj" fmla="val 5525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094227" y="1802370"/>
            <a:ext cx="3121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45,150,592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3" y="2115879"/>
            <a:ext cx="226988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TW" altLang="en-US" sz="23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</a:rPr>
              <a:t>資料筆數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011132" y="1715008"/>
            <a:ext cx="2143614" cy="984520"/>
          </a:xfrm>
          <a:prstGeom prst="roundRect">
            <a:avLst>
              <a:gd name="adj" fmla="val 5525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50903" y="1794920"/>
            <a:ext cx="3121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16,350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6519" y="2108429"/>
            <a:ext cx="226988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門架 OD 組合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9051694" y="1712960"/>
            <a:ext cx="2143614" cy="984520"/>
          </a:xfrm>
          <a:prstGeom prst="roundRect">
            <a:avLst>
              <a:gd name="adj" fmla="val 5525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149229" y="1800064"/>
            <a:ext cx="3121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731 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24845" y="2113573"/>
            <a:ext cx="226988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2024–2025</a:t>
            </a:r>
            <a:endParaRPr lang="en-US" sz="2300" dirty="0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47D654B3-F9A7-9516-8FC2-304C7DE2F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439012"/>
              </p:ext>
            </p:extLst>
          </p:nvPr>
        </p:nvGraphicFramePr>
        <p:xfrm>
          <a:off x="1448483" y="3020965"/>
          <a:ext cx="9295033" cy="325356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96525">
                  <a:extLst>
                    <a:ext uri="{9D8B030D-6E8A-4147-A177-3AD203B41FA5}">
                      <a16:colId xmlns:a16="http://schemas.microsoft.com/office/drawing/2014/main" val="935141316"/>
                    </a:ext>
                  </a:extLst>
                </a:gridCol>
                <a:gridCol w="1205240">
                  <a:extLst>
                    <a:ext uri="{9D8B030D-6E8A-4147-A177-3AD203B41FA5}">
                      <a16:colId xmlns:a16="http://schemas.microsoft.com/office/drawing/2014/main" val="1914603444"/>
                    </a:ext>
                  </a:extLst>
                </a:gridCol>
                <a:gridCol w="5893268">
                  <a:extLst>
                    <a:ext uri="{9D8B030D-6E8A-4147-A177-3AD203B41FA5}">
                      <a16:colId xmlns:a16="http://schemas.microsoft.com/office/drawing/2014/main" val="1048877799"/>
                    </a:ext>
                  </a:extLst>
                </a:gridCol>
              </a:tblGrid>
              <a:tr h="464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變數類別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欄位數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主要欄位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12677"/>
                  </a:ext>
                </a:extLst>
              </a:tr>
              <a:tr h="464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車輛與 OD 旅次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VehicleID、VehicleType、GantryO/D、TripLength 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730421"/>
                  </a:ext>
                </a:extLst>
              </a:tr>
              <a:tr h="464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日期與瓶頸時間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BottleneckTime、WeekdayNum、DayType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440478"/>
                  </a:ext>
                </a:extLst>
              </a:tr>
              <a:tr h="464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天氣資訊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Temperature、Dewpoint、Precipitation、WindSpeed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881637"/>
                  </a:ext>
                </a:extLst>
              </a:tr>
              <a:tr h="464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VD 速度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個 VD Speed 欄位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46563"/>
                  </a:ext>
                </a:extLst>
              </a:tr>
              <a:tr h="464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VD 佔有率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個 VD Occupancy 欄位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805315"/>
                  </a:ext>
                </a:extLst>
              </a:tr>
              <a:tr h="464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合計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8085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第二章｜時間型態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TW" sz="2400" b="1" dirty="0" err="1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星期日需求最高，尖峰時間亦較平日提前</a:t>
            </a:r>
            <a:endParaRPr lang="en-US" altLang="zh-TW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    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8952" y="601675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提醒：週末合併曲線不會等於「星期日」曲線。</a:t>
            </a:r>
            <a:endParaRPr lang="en-US" sz="1200" dirty="0"/>
          </a:p>
        </p:txBody>
      </p:sp>
      <p:pic>
        <p:nvPicPr>
          <p:cNvPr id="21" name="Image 0" descr="/mnt/data/P04_hourly_weekday_profiles.png">
            <a:extLst>
              <a:ext uri="{FF2B5EF4-FFF2-40B4-BE49-F238E27FC236}">
                <a16:creationId xmlns:a16="http://schemas.microsoft.com/office/drawing/2014/main" id="{40A95AC3-C829-4CD4-5CB0-3A3DE6E2C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65358"/>
            <a:ext cx="7726680" cy="4157618"/>
          </a:xfrm>
          <a:prstGeom prst="rect">
            <a:avLst/>
          </a:prstGeom>
        </p:spPr>
      </p:pic>
      <p:sp>
        <p:nvSpPr>
          <p:cNvPr id="23" name="Shape 6">
            <a:extLst>
              <a:ext uri="{FF2B5EF4-FFF2-40B4-BE49-F238E27FC236}">
                <a16:creationId xmlns:a16="http://schemas.microsoft.com/office/drawing/2014/main" id="{CAB01C49-3E2A-D1BD-20DC-15ADB0EB12D1}"/>
              </a:ext>
            </a:extLst>
          </p:cNvPr>
          <p:cNvSpPr/>
          <p:nvPr/>
        </p:nvSpPr>
        <p:spPr>
          <a:xfrm>
            <a:off x="8567928" y="1856232"/>
            <a:ext cx="2907792" cy="3328416"/>
          </a:xfrm>
          <a:prstGeom prst="roundRect">
            <a:avLst>
              <a:gd name="adj" fmla="val 5031"/>
            </a:avLst>
          </a:prstGeom>
          <a:solidFill>
            <a:srgbClr val="EFF6F7"/>
          </a:solidFill>
          <a:ln w="10160">
            <a:solidFill>
              <a:srgbClr val="EFF6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58951FCF-9748-9A6B-DEB7-EAF0D4C5650A}"/>
              </a:ext>
            </a:extLst>
          </p:cNvPr>
          <p:cNvSpPr/>
          <p:nvPr/>
        </p:nvSpPr>
        <p:spPr>
          <a:xfrm>
            <a:off x="8842248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週一～四</a:t>
            </a:r>
            <a:endParaRPr lang="en-US" sz="17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F54FD72-A70B-30D5-1AD8-204F901D2B0C}"/>
              </a:ext>
            </a:extLst>
          </p:cNvPr>
          <p:cNvSpPr/>
          <p:nvPr/>
        </p:nvSpPr>
        <p:spPr>
          <a:xfrm>
            <a:off x="8814816" y="2551176"/>
            <a:ext cx="2404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17:00</a:t>
            </a:r>
            <a:endParaRPr lang="en-US" sz="27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3639D54-DFD6-4A5B-B50E-A67E93B889F5}"/>
              </a:ext>
            </a:extLst>
          </p:cNvPr>
          <p:cNvSpPr/>
          <p:nvPr/>
        </p:nvSpPr>
        <p:spPr>
          <a:xfrm>
            <a:off x="8842248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週五與週六</a:t>
            </a:r>
            <a:endParaRPr lang="en-US" sz="17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3A3D6DD-75C1-F43E-16E7-6CEA0EA9AF41}"/>
              </a:ext>
            </a:extLst>
          </p:cNvPr>
          <p:cNvSpPr/>
          <p:nvPr/>
        </p:nvSpPr>
        <p:spPr>
          <a:xfrm>
            <a:off x="8814816" y="3584448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8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16:00</a:t>
            </a:r>
            <a:endParaRPr lang="en-US" sz="27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4201D6BB-4FC2-688F-CEBA-C7588099BA56}"/>
              </a:ext>
            </a:extLst>
          </p:cNvPr>
          <p:cNvSpPr/>
          <p:nvPr/>
        </p:nvSpPr>
        <p:spPr>
          <a:xfrm>
            <a:off x="8805672" y="4453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週日：14:00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第二章｜DAYTYPE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四種日期類型的每日需求分布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   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87952" y="608772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連假的平均每日需求較高；單日假日樣本極少</a:t>
            </a:r>
            <a:r>
              <a:rPr lang="en-US" sz="12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512BA25-1BCD-87D6-4910-2D5E18BB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646" y="1463040"/>
            <a:ext cx="7432708" cy="42281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第二章｜DAYTYPE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連假不只是需求高，需求也維持較長時段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    07</a:t>
            </a:r>
            <a:endParaRPr lang="en-US" sz="800" dirty="0"/>
          </a:p>
        </p:txBody>
      </p:sp>
      <p:pic>
        <p:nvPicPr>
          <p:cNvPr id="7" name="Image 0" descr="/mnt/data/P03_daytype_24h_absol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906" y="1673352"/>
            <a:ext cx="7935996" cy="4270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5989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WEEKDAY 尖峰約 17:00，WEEKEND 約 16:00；連假需求在較長時間維持高檔。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第二章｜連假階段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連假最後一天：北向需求較高、下午尖峰較早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</a:t>
            </a: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</a:t>
            </a:r>
            <a:r>
              <a:rPr lang="en-US" altLang="zh-TW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87952" y="6044185"/>
            <a:ext cx="38152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LAST 在 2024、2025 的暫定分組中都約 13:00 </a:t>
            </a:r>
            <a:r>
              <a:rPr lang="en-US" sz="12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達高峰</a:t>
            </a:r>
            <a:r>
              <a:rPr lang="en-US" sz="12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134CC55-12F5-FC41-18F3-E01A09241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420" y="1301498"/>
            <a:ext cx="9278104" cy="4639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48E96"/>
                </a:solidFill>
                <a:latin typeface="Microsoft JhengHei"/>
              </a:defRPr>
            </a:pPr>
            <a:r>
              <a:t>第二章｜WEATHER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83048"/>
                </a:solidFill>
                <a:latin typeface="Microsoft JhengHei"/>
              </a:defRPr>
            </a:pPr>
            <a:r>
              <a:t>不同氣象條件下，每小時旅次需求呈現差異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83096"/>
            <a:ext cx="11119104" cy="731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34107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57A8F"/>
                </a:solidFill>
                <a:latin typeface="Microsoft JhengHei"/>
              </a:defRPr>
            </a:pPr>
            <a:r>
              <a:rPr dirty="0" err="1"/>
              <a:t>統計實務｜國三大溪－龍潭北向</a:t>
            </a:r>
            <a:r>
              <a:rPr dirty="0"/>
              <a:t>    </a:t>
            </a:r>
            <a:r>
              <a:rPr lang="en-US" altLang="zh-TW" dirty="0"/>
              <a:t>9</a:t>
            </a:r>
            <a:endParaRPr dirty="0"/>
          </a:p>
        </p:txBody>
      </p:sp>
      <p:pic>
        <p:nvPicPr>
          <p:cNvPr id="7" name="Picture 6" descr="P01_four_weather_demand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234440"/>
            <a:ext cx="8823960" cy="4956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464040" y="1581912"/>
            <a:ext cx="2157984" cy="3931920"/>
          </a:xfrm>
          <a:prstGeom prst="roundRect">
            <a:avLst/>
          </a:prstGeom>
          <a:solidFill>
            <a:srgbClr val="EFF7F8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46920" y="1792224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3048"/>
                </a:solidFill>
                <a:latin typeface="Microsoft JhengHei"/>
              </a:defRPr>
            </a:pPr>
            <a:r>
              <a:t>原始需求觀察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7A8F"/>
                </a:solidFill>
                <a:latin typeface="Microsoft JhengHei"/>
              </a:defRPr>
            </a:pPr>
            <a:r>
              <a:t>氣溫 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688336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8E96"/>
                </a:solidFill>
                <a:latin typeface="Microsoft JhengHei"/>
              </a:defRPr>
            </a:pPr>
            <a:r>
              <a:t>3,537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3136392"/>
            <a:ext cx="1810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7A8F"/>
                </a:solidFill>
                <a:latin typeface="Microsoft JhengHei"/>
              </a:defRPr>
            </a:pPr>
            <a:r>
              <a:t>筆／小時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6941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7A8F"/>
                </a:solidFill>
                <a:latin typeface="Microsoft JhengHei"/>
              </a:defRPr>
            </a:pPr>
            <a:r>
              <a:t>風速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968496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8E96"/>
                </a:solidFill>
                <a:latin typeface="Microsoft JhengHei"/>
              </a:defRPr>
            </a:pPr>
            <a:r>
              <a:t>2,904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4425696"/>
            <a:ext cx="1810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57A8F"/>
                </a:solidFill>
                <a:latin typeface="Microsoft JhengHei"/>
              </a:defRPr>
            </a:pPr>
            <a:r>
              <a:t>筆／小時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544" y="624336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57A8F"/>
                </a:solidFill>
                <a:latin typeface="Microsoft JhengHei"/>
              </a:defRPr>
            </a:pPr>
            <a:r>
              <a:t>只比較原始平均，尚未控制季節、星期與時段。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1089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48E96"/>
                </a:solidFill>
                <a:latin typeface="Microsoft JhengHei"/>
              </a:defRPr>
            </a:pPr>
            <a:r>
              <a:t>第二章｜WEATHER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83048"/>
                </a:solidFill>
                <a:latin typeface="Microsoft JhengHei"/>
              </a:defRPr>
            </a:pPr>
            <a:r>
              <a:t>控制時間後，部分氣象需求關聯方向改變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83096"/>
            <a:ext cx="11119104" cy="731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34107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57A8F"/>
                </a:solidFill>
                <a:latin typeface="Microsoft JhengHei"/>
              </a:defRPr>
            </a:pPr>
            <a:r>
              <a:rPr dirty="0" err="1"/>
              <a:t>統計實務｜國三大溪－龍潭北向</a:t>
            </a:r>
            <a:r>
              <a:rPr dirty="0"/>
              <a:t>    1</a:t>
            </a:r>
            <a:r>
              <a:rPr lang="en-US" altLang="zh-TW" dirty="0"/>
              <a:t>0</a:t>
            </a:r>
            <a:endParaRPr dirty="0"/>
          </a:p>
        </p:txBody>
      </p:sp>
      <p:pic>
        <p:nvPicPr>
          <p:cNvPr id="7" name="Picture 6" descr="P03_four_adjusted_weather_effects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34" y="1275588"/>
            <a:ext cx="8961120" cy="51572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509760" y="1581912"/>
            <a:ext cx="2112264" cy="4123944"/>
          </a:xfrm>
          <a:prstGeom prst="roundRect">
            <a:avLst/>
          </a:prstGeom>
          <a:solidFill>
            <a:srgbClr val="EFF7F8"/>
          </a:solidFill>
          <a:ln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28632" y="178308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3048"/>
                </a:solidFill>
                <a:latin typeface="Microsoft JhengHei"/>
              </a:defRPr>
            </a:pPr>
            <a:r>
              <a:t>調整後高／低值比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2276856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7A8F"/>
                </a:solidFill>
                <a:latin typeface="Microsoft JhengHei"/>
              </a:defRPr>
            </a:pPr>
            <a:r>
              <a:t>氣溫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9296" y="2258568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48E96"/>
                </a:solidFill>
                <a:latin typeface="Microsoft JhengHei"/>
              </a:defRPr>
            </a:pPr>
            <a:r>
              <a:t>1.052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3008376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7A8F"/>
                </a:solidFill>
                <a:latin typeface="Microsoft JhengHei"/>
              </a:defRPr>
            </a:pPr>
            <a:r>
              <a:t>露點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9296" y="2990088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48E96"/>
                </a:solidFill>
                <a:latin typeface="Microsoft JhengHei"/>
              </a:defRPr>
            </a:pPr>
            <a:r>
              <a:t>0.931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739896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7A8F"/>
                </a:solidFill>
                <a:latin typeface="Microsoft JhengHei"/>
              </a:defRPr>
            </a:pPr>
            <a:r>
              <a:t>降雨量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9296" y="3721608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48E96"/>
                </a:solidFill>
                <a:latin typeface="Microsoft JhengHei"/>
              </a:defRPr>
            </a:pPr>
            <a:r>
              <a:t>0.931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4471416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57A8F"/>
                </a:solidFill>
                <a:latin typeface="Microsoft JhengHei"/>
              </a:defRPr>
            </a:pPr>
            <a:r>
              <a:t>風速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9296" y="4453128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48E96"/>
                </a:solidFill>
                <a:latin typeface="Microsoft JhengHei"/>
              </a:defRPr>
            </a:pPr>
            <a:r>
              <a:t>0.934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第三章｜車種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 DayType 的車種結構並不相同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</a:t>
            </a: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</a:t>
            </a:r>
            <a:r>
              <a:rPr lang="en-US" altLang="zh-TW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00" dirty="0"/>
          </a:p>
        </p:txBody>
      </p:sp>
      <p:pic>
        <p:nvPicPr>
          <p:cNvPr id="7" name="Image 0" descr="/mnt/data/P03_vehicle_day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510" y="1673352"/>
            <a:ext cx="7828788" cy="4270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50920" y="6025896"/>
            <a:ext cx="5077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一般週末及連假小客車需求較高；大型貨車與聯結車在週末平均需求較低。</a:t>
            </a:r>
            <a:endParaRPr lang="en-US" sz="12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19EB50A-3A0D-4152-0D00-D58AFE114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980" y="2688171"/>
            <a:ext cx="1182452" cy="18196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第三章｜車種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</a:t>
            </a: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</a:t>
            </a:r>
            <a:r>
              <a:rPr lang="en-US" altLang="zh-TW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29CBD7CC-BB67-C768-3C88-A624B32E8808}"/>
              </a:ext>
            </a:extLst>
          </p:cNvPr>
          <p:cNvSpPr/>
          <p:nvPr/>
        </p:nvSpPr>
        <p:spPr>
          <a:xfrm>
            <a:off x="585216" y="70408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週末小客車增量最大；貨運車種則呈下降</a:t>
            </a:r>
            <a:endParaRPr lang="en-US" sz="27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74390361-5018-F306-4634-9E2A3478F225}"/>
              </a:ext>
            </a:extLst>
          </p:cNvPr>
          <p:cNvSpPr/>
          <p:nvPr/>
        </p:nvSpPr>
        <p:spPr>
          <a:xfrm>
            <a:off x="822960" y="2039112"/>
            <a:ext cx="3559759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小客車 31</a:t>
            </a:r>
            <a:endParaRPr lang="en-US" sz="1300" dirty="0"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E9BC17E6-0AB5-8974-BF63-D6DC04204800}"/>
              </a:ext>
            </a:extLst>
          </p:cNvPr>
          <p:cNvSpPr/>
          <p:nvPr/>
        </p:nvSpPr>
        <p:spPr>
          <a:xfrm>
            <a:off x="4592117" y="2043684"/>
            <a:ext cx="4698254" cy="289166"/>
          </a:xfrm>
          <a:prstGeom prst="rect">
            <a:avLst/>
          </a:prstGeom>
          <a:solidFill>
            <a:srgbClr val="188A90"/>
          </a:solidFill>
          <a:ln w="12700">
            <a:solidFill>
              <a:srgbClr val="188A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7A722A1C-D7F0-13A7-3ADF-9B46950AE356}"/>
              </a:ext>
            </a:extLst>
          </p:cNvPr>
          <p:cNvSpPr/>
          <p:nvPr/>
        </p:nvSpPr>
        <p:spPr>
          <a:xfrm>
            <a:off x="9512960" y="2039112"/>
            <a:ext cx="1779880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+14,958</a:t>
            </a:r>
            <a:endParaRPr lang="en-US" sz="1200" dirty="0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9A5A5362-E249-99F6-FB82-DC48C3A418A2}"/>
              </a:ext>
            </a:extLst>
          </p:cNvPr>
          <p:cNvSpPr/>
          <p:nvPr/>
        </p:nvSpPr>
        <p:spPr>
          <a:xfrm>
            <a:off x="822960" y="2706624"/>
            <a:ext cx="3559759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小貨車 32</a:t>
            </a:r>
            <a:endParaRPr lang="en-US" sz="13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4C91F662-FE10-8E25-7904-2F449DFE7443}"/>
              </a:ext>
            </a:extLst>
          </p:cNvPr>
          <p:cNvSpPr/>
          <p:nvPr/>
        </p:nvSpPr>
        <p:spPr>
          <a:xfrm>
            <a:off x="4592117" y="2711196"/>
            <a:ext cx="122498" cy="289166"/>
          </a:xfrm>
          <a:prstGeom prst="rect">
            <a:avLst/>
          </a:prstGeom>
          <a:solidFill>
            <a:srgbClr val="AF5448"/>
          </a:solidFill>
          <a:ln w="12700">
            <a:solidFill>
              <a:srgbClr val="AF54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129F7701-B7F2-D93D-E83F-B61F6A709A4C}"/>
              </a:ext>
            </a:extLst>
          </p:cNvPr>
          <p:cNvSpPr/>
          <p:nvPr/>
        </p:nvSpPr>
        <p:spPr>
          <a:xfrm>
            <a:off x="9512960" y="2706624"/>
            <a:ext cx="1779880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-390</a:t>
            </a:r>
            <a:endParaRPr lang="en-US" sz="120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B99C7D-1D04-74ED-F5FC-36ECD6A5AC6E}"/>
              </a:ext>
            </a:extLst>
          </p:cNvPr>
          <p:cNvSpPr/>
          <p:nvPr/>
        </p:nvSpPr>
        <p:spPr>
          <a:xfrm>
            <a:off x="822960" y="3374136"/>
            <a:ext cx="3559759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大客車 41</a:t>
            </a:r>
            <a:endParaRPr lang="en-US" sz="1300" dirty="0"/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759587B5-4108-4227-21B5-2E4BAA475D25}"/>
              </a:ext>
            </a:extLst>
          </p:cNvPr>
          <p:cNvSpPr/>
          <p:nvPr/>
        </p:nvSpPr>
        <p:spPr>
          <a:xfrm>
            <a:off x="4592117" y="3378708"/>
            <a:ext cx="54653" cy="289166"/>
          </a:xfrm>
          <a:prstGeom prst="rect">
            <a:avLst/>
          </a:prstGeom>
          <a:solidFill>
            <a:srgbClr val="188A90"/>
          </a:solidFill>
          <a:ln w="12700">
            <a:solidFill>
              <a:srgbClr val="188A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63000A60-A354-0755-EF7F-FBB136444E1E}"/>
              </a:ext>
            </a:extLst>
          </p:cNvPr>
          <p:cNvSpPr/>
          <p:nvPr/>
        </p:nvSpPr>
        <p:spPr>
          <a:xfrm>
            <a:off x="9512960" y="3374136"/>
            <a:ext cx="1779880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+174</a:t>
            </a:r>
            <a:endParaRPr lang="en-US" sz="1200" dirty="0"/>
          </a:p>
        </p:txBody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CCCC9620-0FFF-13BF-706F-F29DEFD25A28}"/>
              </a:ext>
            </a:extLst>
          </p:cNvPr>
          <p:cNvSpPr/>
          <p:nvPr/>
        </p:nvSpPr>
        <p:spPr>
          <a:xfrm>
            <a:off x="822960" y="4041648"/>
            <a:ext cx="3559759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大貨車 42</a:t>
            </a:r>
            <a:endParaRPr lang="en-US" sz="1300" dirty="0"/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A6B55308-8B9E-7636-6390-336FC6257996}"/>
              </a:ext>
            </a:extLst>
          </p:cNvPr>
          <p:cNvSpPr/>
          <p:nvPr/>
        </p:nvSpPr>
        <p:spPr>
          <a:xfrm>
            <a:off x="4592117" y="4046220"/>
            <a:ext cx="558777" cy="289166"/>
          </a:xfrm>
          <a:prstGeom prst="rect">
            <a:avLst/>
          </a:prstGeom>
          <a:solidFill>
            <a:srgbClr val="AF5448"/>
          </a:solidFill>
          <a:ln w="12700">
            <a:solidFill>
              <a:srgbClr val="AF54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E3254D16-35B6-C30D-613A-2F37E386E0BD}"/>
              </a:ext>
            </a:extLst>
          </p:cNvPr>
          <p:cNvSpPr/>
          <p:nvPr/>
        </p:nvSpPr>
        <p:spPr>
          <a:xfrm>
            <a:off x="9512960" y="4041648"/>
            <a:ext cx="1779880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-1,779</a:t>
            </a:r>
            <a:endParaRPr lang="en-US" sz="1200" dirty="0"/>
          </a:p>
        </p:txBody>
      </p:sp>
      <p:sp>
        <p:nvSpPr>
          <p:cNvPr id="79" name="Text 18">
            <a:extLst>
              <a:ext uri="{FF2B5EF4-FFF2-40B4-BE49-F238E27FC236}">
                <a16:creationId xmlns:a16="http://schemas.microsoft.com/office/drawing/2014/main" id="{2277DE19-A54A-06D0-44BC-19AF16C2BE2C}"/>
              </a:ext>
            </a:extLst>
          </p:cNvPr>
          <p:cNvSpPr/>
          <p:nvPr/>
        </p:nvSpPr>
        <p:spPr>
          <a:xfrm>
            <a:off x="822960" y="4709160"/>
            <a:ext cx="3559759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聯結車 5</a:t>
            </a:r>
            <a:endParaRPr lang="en-US" sz="1300" dirty="0"/>
          </a:p>
        </p:txBody>
      </p:sp>
      <p:sp>
        <p:nvSpPr>
          <p:cNvPr id="81" name="Shape 19">
            <a:extLst>
              <a:ext uri="{FF2B5EF4-FFF2-40B4-BE49-F238E27FC236}">
                <a16:creationId xmlns:a16="http://schemas.microsoft.com/office/drawing/2014/main" id="{2CE439CE-6AFC-D094-C5BF-C761CE25F22F}"/>
              </a:ext>
            </a:extLst>
          </p:cNvPr>
          <p:cNvSpPr/>
          <p:nvPr/>
        </p:nvSpPr>
        <p:spPr>
          <a:xfrm>
            <a:off x="4592117" y="4713732"/>
            <a:ext cx="487164" cy="289166"/>
          </a:xfrm>
          <a:prstGeom prst="rect">
            <a:avLst/>
          </a:prstGeom>
          <a:solidFill>
            <a:srgbClr val="AF5448"/>
          </a:solidFill>
          <a:ln w="12700">
            <a:solidFill>
              <a:srgbClr val="AF54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Text 20">
            <a:extLst>
              <a:ext uri="{FF2B5EF4-FFF2-40B4-BE49-F238E27FC236}">
                <a16:creationId xmlns:a16="http://schemas.microsoft.com/office/drawing/2014/main" id="{0040E883-EF1A-D0A7-DBB5-EAF2A52BA32D}"/>
              </a:ext>
            </a:extLst>
          </p:cNvPr>
          <p:cNvSpPr/>
          <p:nvPr/>
        </p:nvSpPr>
        <p:spPr>
          <a:xfrm>
            <a:off x="9512960" y="4709160"/>
            <a:ext cx="1779880" cy="38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-1,551</a:t>
            </a:r>
            <a:endParaRPr lang="en-US" sz="1200" dirty="0"/>
          </a:p>
        </p:txBody>
      </p:sp>
      <p:sp>
        <p:nvSpPr>
          <p:cNvPr id="85" name="Shape 21">
            <a:extLst>
              <a:ext uri="{FF2B5EF4-FFF2-40B4-BE49-F238E27FC236}">
                <a16:creationId xmlns:a16="http://schemas.microsoft.com/office/drawing/2014/main" id="{6E5D8E8A-D549-B0E4-55C2-DA906523F532}"/>
              </a:ext>
            </a:extLst>
          </p:cNvPr>
          <p:cNvSpPr/>
          <p:nvPr/>
        </p:nvSpPr>
        <p:spPr>
          <a:xfrm>
            <a:off x="877824" y="1600200"/>
            <a:ext cx="4572000" cy="347472"/>
          </a:xfrm>
          <a:prstGeom prst="roundRect">
            <a:avLst>
              <a:gd name="adj" fmla="val 42105"/>
            </a:avLst>
          </a:prstGeom>
          <a:solidFill>
            <a:srgbClr val="188A90"/>
          </a:solidFill>
          <a:ln w="10160">
            <a:solidFill>
              <a:srgbClr val="188A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Text 22">
            <a:extLst>
              <a:ext uri="{FF2B5EF4-FFF2-40B4-BE49-F238E27FC236}">
                <a16:creationId xmlns:a16="http://schemas.microsoft.com/office/drawing/2014/main" id="{9B30A188-768A-3C7E-FA32-7E5E73E1EC80}"/>
              </a:ext>
            </a:extLst>
          </p:cNvPr>
          <p:cNvSpPr/>
          <p:nvPr/>
        </p:nvSpPr>
        <p:spPr>
          <a:xfrm>
            <a:off x="987552" y="167792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2024｜一般週末－平日（平均筆／日）</a:t>
            </a:r>
            <a:endParaRPr lang="en-US" sz="1000" dirty="0"/>
          </a:p>
        </p:txBody>
      </p:sp>
      <p:sp>
        <p:nvSpPr>
          <p:cNvPr id="89" name="Text 23">
            <a:extLst>
              <a:ext uri="{FF2B5EF4-FFF2-40B4-BE49-F238E27FC236}">
                <a16:creationId xmlns:a16="http://schemas.microsoft.com/office/drawing/2014/main" id="{D2F48DFA-AAFE-6EF0-A554-074AC3D69142}"/>
              </a:ext>
            </a:extLst>
          </p:cNvPr>
          <p:cNvSpPr/>
          <p:nvPr/>
        </p:nvSpPr>
        <p:spPr>
          <a:xfrm>
            <a:off x="667512" y="59984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D6C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方向相近：小客車 +14,179；大貨車 −1,884；聯結車 −1,606。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第三章｜距離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</a:t>
            </a: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</a:t>
            </a:r>
            <a:r>
              <a:rPr lang="en-US" altLang="zh-TW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122162ED-2EBB-61E6-0447-3C3026AF1298}"/>
              </a:ext>
            </a:extLst>
          </p:cNvPr>
          <p:cNvSpPr/>
          <p:nvPr/>
        </p:nvSpPr>
        <p:spPr>
          <a:xfrm>
            <a:off x="585216" y="70408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100–500 公里旅次是週末需求增加的重要來源</a:t>
            </a:r>
            <a:endParaRPr lang="en-US" sz="27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EC2BD3A-A6C8-BA38-599C-A53BD3BC325A}"/>
              </a:ext>
            </a:extLst>
          </p:cNvPr>
          <p:cNvSpPr/>
          <p:nvPr/>
        </p:nvSpPr>
        <p:spPr>
          <a:xfrm>
            <a:off x="914400" y="2313432"/>
            <a:ext cx="3482035" cy="44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100–500 km</a:t>
            </a:r>
            <a:endParaRPr lang="en-US" sz="13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D60EDBCB-F454-3ECC-C65F-C3158D9741C3}"/>
              </a:ext>
            </a:extLst>
          </p:cNvPr>
          <p:cNvSpPr/>
          <p:nvPr/>
        </p:nvSpPr>
        <p:spPr>
          <a:xfrm>
            <a:off x="4601261" y="2318004"/>
            <a:ext cx="4298419" cy="339341"/>
          </a:xfrm>
          <a:prstGeom prst="rect">
            <a:avLst/>
          </a:prstGeom>
          <a:solidFill>
            <a:srgbClr val="188A90"/>
          </a:solidFill>
          <a:ln w="12700">
            <a:solidFill>
              <a:srgbClr val="188A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FE6522C-663F-D7DD-3C83-632B00DBF063}"/>
              </a:ext>
            </a:extLst>
          </p:cNvPr>
          <p:cNvSpPr/>
          <p:nvPr/>
        </p:nvSpPr>
        <p:spPr>
          <a:xfrm>
            <a:off x="9414662" y="2313432"/>
            <a:ext cx="1741018" cy="44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+9,327</a:t>
            </a:r>
            <a:endParaRPr lang="en-US" sz="12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F0C3DD3-9BC3-2DEE-1D13-07A4E7E2FBCB}"/>
              </a:ext>
            </a:extLst>
          </p:cNvPr>
          <p:cNvSpPr/>
          <p:nvPr/>
        </p:nvSpPr>
        <p:spPr>
          <a:xfrm>
            <a:off x="914400" y="3096768"/>
            <a:ext cx="3482035" cy="44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&lt;100 km</a:t>
            </a:r>
            <a:endParaRPr lang="en-US" sz="13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4E73B904-4CA6-BA44-D78D-1861A27B7227}"/>
              </a:ext>
            </a:extLst>
          </p:cNvPr>
          <p:cNvSpPr/>
          <p:nvPr/>
        </p:nvSpPr>
        <p:spPr>
          <a:xfrm>
            <a:off x="4601261" y="3101340"/>
            <a:ext cx="1112049" cy="339341"/>
          </a:xfrm>
          <a:prstGeom prst="rect">
            <a:avLst/>
          </a:prstGeom>
          <a:solidFill>
            <a:srgbClr val="188A90"/>
          </a:solidFill>
          <a:ln w="12700">
            <a:solidFill>
              <a:srgbClr val="188A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0E10A3EF-8849-2591-6B3E-1583ABB78E9C}"/>
              </a:ext>
            </a:extLst>
          </p:cNvPr>
          <p:cNvSpPr/>
          <p:nvPr/>
        </p:nvSpPr>
        <p:spPr>
          <a:xfrm>
            <a:off x="9414662" y="3096768"/>
            <a:ext cx="1741018" cy="44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+2,413</a:t>
            </a:r>
            <a:endParaRPr lang="en-US" sz="12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EA90E4F7-10E2-ED76-7794-7DEE64EE9C8C}"/>
              </a:ext>
            </a:extLst>
          </p:cNvPr>
          <p:cNvSpPr/>
          <p:nvPr/>
        </p:nvSpPr>
        <p:spPr>
          <a:xfrm>
            <a:off x="914400" y="3880104"/>
            <a:ext cx="3482035" cy="44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單門架</a:t>
            </a:r>
            <a:endParaRPr lang="en-US" sz="13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CE8BC4D5-B9D2-4665-4100-A4AC598430C4}"/>
              </a:ext>
            </a:extLst>
          </p:cNvPr>
          <p:cNvSpPr/>
          <p:nvPr/>
        </p:nvSpPr>
        <p:spPr>
          <a:xfrm>
            <a:off x="4601261" y="3884676"/>
            <a:ext cx="150700" cy="339341"/>
          </a:xfrm>
          <a:prstGeom prst="rect">
            <a:avLst/>
          </a:prstGeom>
          <a:solidFill>
            <a:srgbClr val="AF5448"/>
          </a:solidFill>
          <a:ln w="12700">
            <a:solidFill>
              <a:srgbClr val="AF54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CF5BB7C3-C291-73E2-EFFC-0669CCE2772F}"/>
              </a:ext>
            </a:extLst>
          </p:cNvPr>
          <p:cNvSpPr/>
          <p:nvPr/>
        </p:nvSpPr>
        <p:spPr>
          <a:xfrm>
            <a:off x="9414662" y="3880104"/>
            <a:ext cx="1741018" cy="44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-327</a:t>
            </a:r>
            <a:endParaRPr lang="en-US" sz="120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0F8699F0-4711-D3F9-1465-AD49F09D842E}"/>
              </a:ext>
            </a:extLst>
          </p:cNvPr>
          <p:cNvSpPr/>
          <p:nvPr/>
        </p:nvSpPr>
        <p:spPr>
          <a:xfrm>
            <a:off x="914400" y="4974336"/>
            <a:ext cx="10222992" cy="621792"/>
          </a:xfrm>
          <a:prstGeom prst="roundRect">
            <a:avLst>
              <a:gd name="adj" fmla="val 23529"/>
            </a:avLst>
          </a:prstGeom>
          <a:solidFill>
            <a:srgbClr val="EFF6F7"/>
          </a:solidFill>
          <a:ln w="10160">
            <a:solidFill>
              <a:srgbClr val="EFF6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219B371D-5786-9712-AAC4-C992BA6FE070}"/>
              </a:ext>
            </a:extLst>
          </p:cNvPr>
          <p:cNvSpPr/>
          <p:nvPr/>
        </p:nvSpPr>
        <p:spPr>
          <a:xfrm>
            <a:off x="1124712" y="517550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100–500 km：2024 +9,327　｜　2025 +8,813 筆／日（未排除 QC 日期）</a:t>
            </a:r>
            <a:endParaRPr lang="en-US" sz="17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3B0BD9CB-0602-4DB8-C513-AF26453306B5}"/>
              </a:ext>
            </a:extLst>
          </p:cNvPr>
          <p:cNvSpPr/>
          <p:nvPr/>
        </p:nvSpPr>
        <p:spPr>
          <a:xfrm>
            <a:off x="667512" y="59984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D6C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這是探索性距離分類；固定 OD 里程跨門檻及 &gt;500 km 異常仍需敏感度檢查。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B1DE-1943-4662-551F-5DB56669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5E193F-630B-C995-1904-6839B6BBC287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F73FBF-443A-2B35-0AF9-464013CAD99D}"/>
              </a:ext>
            </a:extLst>
          </p:cNvPr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第三章｜距離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C37917-C0B1-5CBB-1CCF-416ABC5BF03E}"/>
              </a:ext>
            </a:extLst>
          </p:cNvPr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E63879-7123-6496-0BB3-44D4DB162A0B}"/>
              </a:ext>
            </a:extLst>
          </p:cNvPr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</a:t>
            </a: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</a:t>
            </a:r>
            <a:r>
              <a:rPr lang="en-US" altLang="zh-TW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42905C58-2D5B-68AE-B08C-82C0D67D8865}"/>
              </a:ext>
            </a:extLst>
          </p:cNvPr>
          <p:cNvSpPr/>
          <p:nvPr/>
        </p:nvSpPr>
        <p:spPr>
          <a:xfrm>
            <a:off x="585216" y="70408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zh-TW" altLang="zh-TW" sz="27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</a:rPr>
              <a:t>週末長距離需求增加，主要由小客車貢獻</a:t>
            </a:r>
            <a:endParaRPr lang="en-US" sz="2700" b="1" dirty="0">
              <a:solidFill>
                <a:srgbClr val="17304B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C229CCF-7196-D9F1-8420-FC7D57D7C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263" y="1554480"/>
            <a:ext cx="7585473" cy="441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2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第三章｜VEHICLEID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</a:t>
            </a: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</a:t>
            </a:r>
            <a:r>
              <a:rPr lang="en-US" altLang="zh-TW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29295AAF-8543-8E18-D3DC-83202ABCE3F0}"/>
              </a:ext>
            </a:extLst>
          </p:cNvPr>
          <p:cNvSpPr/>
          <p:nvPr/>
        </p:nvSpPr>
        <p:spPr>
          <a:xfrm>
            <a:off x="585216" y="704088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少數重複出現 VehicleID 貢獻大部分旅次紀錄</a:t>
            </a:r>
            <a:endParaRPr lang="en-US" sz="27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DC59CC61-98D7-3A04-F02C-0F205378EC22}"/>
              </a:ext>
            </a:extLst>
          </p:cNvPr>
          <p:cNvSpPr/>
          <p:nvPr/>
        </p:nvSpPr>
        <p:spPr>
          <a:xfrm>
            <a:off x="777240" y="1810512"/>
            <a:ext cx="3328416" cy="1353312"/>
          </a:xfrm>
          <a:prstGeom prst="roundRect">
            <a:avLst>
              <a:gd name="adj" fmla="val 10811"/>
            </a:avLst>
          </a:prstGeom>
          <a:solidFill>
            <a:srgbClr val="EFF6F7"/>
          </a:solidFill>
          <a:ln w="10160">
            <a:solidFill>
              <a:srgbClr val="EFF6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0AAE8BD4-B398-0BF3-312A-6D3C7611C225}"/>
              </a:ext>
            </a:extLst>
          </p:cNvPr>
          <p:cNvSpPr/>
          <p:nvPr/>
        </p:nvSpPr>
        <p:spPr>
          <a:xfrm>
            <a:off x="987552" y="205740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C77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4,334,000</a:t>
            </a:r>
            <a:endParaRPr lang="en-US" sz="30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365A3A87-9980-EFED-02E7-C745A06F41E7}"/>
              </a:ext>
            </a:extLst>
          </p:cNvPr>
          <p:cNvSpPr/>
          <p:nvPr/>
        </p:nvSpPr>
        <p:spPr>
          <a:xfrm>
            <a:off x="987552" y="27157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C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匿名 VehicleID 數</a:t>
            </a:r>
            <a:endParaRPr lang="en-US" sz="12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036D06A5-FF52-61A6-7160-221D70293064}"/>
              </a:ext>
            </a:extLst>
          </p:cNvPr>
          <p:cNvSpPr/>
          <p:nvPr/>
        </p:nvSpPr>
        <p:spPr>
          <a:xfrm>
            <a:off x="4434840" y="1810512"/>
            <a:ext cx="3328416" cy="1353312"/>
          </a:xfrm>
          <a:prstGeom prst="roundRect">
            <a:avLst>
              <a:gd name="adj" fmla="val 10811"/>
            </a:avLst>
          </a:prstGeom>
          <a:solidFill>
            <a:srgbClr val="EFF6F7"/>
          </a:solidFill>
          <a:ln w="10160">
            <a:solidFill>
              <a:srgbClr val="EFF6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706A486-9B60-66E9-E37F-9A48AF2FEF61}"/>
              </a:ext>
            </a:extLst>
          </p:cNvPr>
          <p:cNvSpPr/>
          <p:nvPr/>
        </p:nvSpPr>
        <p:spPr>
          <a:xfrm>
            <a:off x="4645152" y="205740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C77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筆</a:t>
            </a:r>
            <a:endParaRPr lang="en-US" sz="30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9952E590-A5AE-1F4C-2178-BCBF1B02FBE9}"/>
              </a:ext>
            </a:extLst>
          </p:cNvPr>
          <p:cNvSpPr/>
          <p:nvPr/>
        </p:nvSpPr>
        <p:spPr>
          <a:xfrm>
            <a:off x="4645152" y="27157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C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ID 紀錄數中位數</a:t>
            </a:r>
            <a:endParaRPr lang="en-US" sz="1200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1A284AF5-2A2C-D699-9D06-E814D9F3CCFF}"/>
              </a:ext>
            </a:extLst>
          </p:cNvPr>
          <p:cNvSpPr/>
          <p:nvPr/>
        </p:nvSpPr>
        <p:spPr>
          <a:xfrm>
            <a:off x="8092440" y="1810512"/>
            <a:ext cx="3328416" cy="1353312"/>
          </a:xfrm>
          <a:prstGeom prst="roundRect">
            <a:avLst>
              <a:gd name="adj" fmla="val 10811"/>
            </a:avLst>
          </a:prstGeom>
          <a:solidFill>
            <a:srgbClr val="EFF6F7"/>
          </a:solidFill>
          <a:ln w="10160">
            <a:solidFill>
              <a:srgbClr val="EFF6F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2DD1CC51-ACCF-B702-00D8-292C6AC850A3}"/>
              </a:ext>
            </a:extLst>
          </p:cNvPr>
          <p:cNvSpPr/>
          <p:nvPr/>
        </p:nvSpPr>
        <p:spPr>
          <a:xfrm>
            <a:off x="8302752" y="205740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C77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53.2%</a:t>
            </a:r>
            <a:endParaRPr lang="en-US" sz="30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2405AEAF-A1A3-4FA2-7FDB-4697266F78C2}"/>
              </a:ext>
            </a:extLst>
          </p:cNvPr>
          <p:cNvSpPr/>
          <p:nvPr/>
        </p:nvSpPr>
        <p:spPr>
          <a:xfrm>
            <a:off x="8302752" y="27157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C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 31 次以上的旅次占比</a:t>
            </a:r>
            <a:endParaRPr lang="en-US" sz="12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A4C6D0F8-79C9-8E44-AE0D-886BE919499A}"/>
              </a:ext>
            </a:extLst>
          </p:cNvPr>
          <p:cNvSpPr/>
          <p:nvPr/>
        </p:nvSpPr>
        <p:spPr>
          <a:xfrm>
            <a:off x="914400" y="3474720"/>
            <a:ext cx="3291840" cy="402336"/>
          </a:xfrm>
          <a:prstGeom prst="roundRect">
            <a:avLst>
              <a:gd name="adj" fmla="val 36364"/>
            </a:avLst>
          </a:prstGeom>
          <a:solidFill>
            <a:srgbClr val="17304B"/>
          </a:solidFill>
          <a:ln w="10160">
            <a:solidFill>
              <a:srgbClr val="1730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4B58AB50-FBED-D11C-0035-F095348EEEDE}"/>
              </a:ext>
            </a:extLst>
          </p:cNvPr>
          <p:cNvSpPr/>
          <p:nvPr/>
        </p:nvSpPr>
        <p:spPr>
          <a:xfrm>
            <a:off x="1005840" y="3566160"/>
            <a:ext cx="3108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ID 出現次數</a:t>
            </a:r>
            <a:endParaRPr lang="en-US" sz="12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C12D0748-4714-F70F-E838-5DF5625F1746}"/>
              </a:ext>
            </a:extLst>
          </p:cNvPr>
          <p:cNvSpPr/>
          <p:nvPr/>
        </p:nvSpPr>
        <p:spPr>
          <a:xfrm>
            <a:off x="4206240" y="3474720"/>
            <a:ext cx="3383280" cy="402336"/>
          </a:xfrm>
          <a:prstGeom prst="roundRect">
            <a:avLst>
              <a:gd name="adj" fmla="val 36364"/>
            </a:avLst>
          </a:prstGeom>
          <a:solidFill>
            <a:srgbClr val="17304B"/>
          </a:solidFill>
          <a:ln w="10160">
            <a:solidFill>
              <a:srgbClr val="1730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F3680B18-A7AA-565E-65D0-E72C04C20C15}"/>
              </a:ext>
            </a:extLst>
          </p:cNvPr>
          <p:cNvSpPr/>
          <p:nvPr/>
        </p:nvSpPr>
        <p:spPr>
          <a:xfrm>
            <a:off x="4297680" y="356616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VehicleID 占比</a:t>
            </a:r>
            <a:endParaRPr lang="en-US" sz="12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6E78D66E-0A8E-016B-F67E-4B07C46BE48F}"/>
              </a:ext>
            </a:extLst>
          </p:cNvPr>
          <p:cNvSpPr/>
          <p:nvPr/>
        </p:nvSpPr>
        <p:spPr>
          <a:xfrm>
            <a:off x="7589520" y="3474720"/>
            <a:ext cx="3383280" cy="402336"/>
          </a:xfrm>
          <a:prstGeom prst="roundRect">
            <a:avLst>
              <a:gd name="adj" fmla="val 36364"/>
            </a:avLst>
          </a:prstGeom>
          <a:solidFill>
            <a:srgbClr val="17304B"/>
          </a:solidFill>
          <a:ln w="10160">
            <a:solidFill>
              <a:srgbClr val="1730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BEE63A02-B4B0-F4CD-B723-11B4A72EE53D}"/>
              </a:ext>
            </a:extLst>
          </p:cNvPr>
          <p:cNvSpPr/>
          <p:nvPr/>
        </p:nvSpPr>
        <p:spPr>
          <a:xfrm>
            <a:off x="7680960" y="356616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旅次紀錄占比</a:t>
            </a:r>
            <a:endParaRPr lang="en-US" sz="12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A27C2C37-2F67-94B2-8A03-EDAE47A9778F}"/>
              </a:ext>
            </a:extLst>
          </p:cNvPr>
          <p:cNvSpPr/>
          <p:nvPr/>
        </p:nvSpPr>
        <p:spPr>
          <a:xfrm>
            <a:off x="914400" y="3877056"/>
            <a:ext cx="329184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pPr algn="ctr"/>
            <a:endParaRPr lang="zh-TW" altLang="en-US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8E7FABDF-64F9-498D-79F6-4D23213D4F58}"/>
              </a:ext>
            </a:extLst>
          </p:cNvPr>
          <p:cNvSpPr/>
          <p:nvPr/>
        </p:nvSpPr>
        <p:spPr>
          <a:xfrm>
            <a:off x="1005840" y="39684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5D49C873-A3D8-AF17-D77F-6B7A4D487BD2}"/>
              </a:ext>
            </a:extLst>
          </p:cNvPr>
          <p:cNvSpPr/>
          <p:nvPr/>
        </p:nvSpPr>
        <p:spPr>
          <a:xfrm>
            <a:off x="4206240" y="3877056"/>
            <a:ext cx="338328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0D3BF9AD-3A9C-FDC2-B48C-B123CF3FA985}"/>
              </a:ext>
            </a:extLst>
          </p:cNvPr>
          <p:cNvSpPr/>
          <p:nvPr/>
        </p:nvSpPr>
        <p:spPr>
          <a:xfrm>
            <a:off x="4297680" y="3968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29.3%</a:t>
            </a:r>
            <a:endParaRPr lang="en-US" sz="1200" dirty="0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4EC78E02-AA09-4C6A-13D9-1411ADEF79CF}"/>
              </a:ext>
            </a:extLst>
          </p:cNvPr>
          <p:cNvSpPr/>
          <p:nvPr/>
        </p:nvSpPr>
        <p:spPr>
          <a:xfrm>
            <a:off x="7589520" y="3877056"/>
            <a:ext cx="338328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3292407C-1F8B-47B9-3A7F-CDD0803A78AE}"/>
              </a:ext>
            </a:extLst>
          </p:cNvPr>
          <p:cNvSpPr/>
          <p:nvPr/>
        </p:nvSpPr>
        <p:spPr>
          <a:xfrm>
            <a:off x="7680960" y="3968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2.8%</a:t>
            </a:r>
            <a:endParaRPr lang="en-US" sz="1200" dirty="0"/>
          </a:p>
        </p:txBody>
      </p:sp>
      <p:sp>
        <p:nvSpPr>
          <p:cNvPr id="67" name="Shape 27">
            <a:extLst>
              <a:ext uri="{FF2B5EF4-FFF2-40B4-BE49-F238E27FC236}">
                <a16:creationId xmlns:a16="http://schemas.microsoft.com/office/drawing/2014/main" id="{4614F95B-E96A-2A93-C8BF-90226A257D0A}"/>
              </a:ext>
            </a:extLst>
          </p:cNvPr>
          <p:cNvSpPr/>
          <p:nvPr/>
        </p:nvSpPr>
        <p:spPr>
          <a:xfrm>
            <a:off x="914400" y="4206240"/>
            <a:ext cx="32918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28">
            <a:extLst>
              <a:ext uri="{FF2B5EF4-FFF2-40B4-BE49-F238E27FC236}">
                <a16:creationId xmlns:a16="http://schemas.microsoft.com/office/drawing/2014/main" id="{8CC91029-F105-B8CA-62B4-02F13266FE69}"/>
              </a:ext>
            </a:extLst>
          </p:cNvPr>
          <p:cNvSpPr/>
          <p:nvPr/>
        </p:nvSpPr>
        <p:spPr>
          <a:xfrm>
            <a:off x="1005840" y="4297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2-5</a:t>
            </a:r>
            <a:endParaRPr lang="en-US" sz="1200" dirty="0"/>
          </a:p>
        </p:txBody>
      </p:sp>
      <p:sp>
        <p:nvSpPr>
          <p:cNvPr id="71" name="Shape 29">
            <a:extLst>
              <a:ext uri="{FF2B5EF4-FFF2-40B4-BE49-F238E27FC236}">
                <a16:creationId xmlns:a16="http://schemas.microsoft.com/office/drawing/2014/main" id="{291DA90B-C2C7-59ED-E972-06A05C98EB32}"/>
              </a:ext>
            </a:extLst>
          </p:cNvPr>
          <p:cNvSpPr/>
          <p:nvPr/>
        </p:nvSpPr>
        <p:spPr>
          <a:xfrm>
            <a:off x="4206240" y="4206240"/>
            <a:ext cx="33832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Text 30">
            <a:extLst>
              <a:ext uri="{FF2B5EF4-FFF2-40B4-BE49-F238E27FC236}">
                <a16:creationId xmlns:a16="http://schemas.microsoft.com/office/drawing/2014/main" id="{E05D3481-BEE6-B196-3D0A-540EAF088248}"/>
              </a:ext>
            </a:extLst>
          </p:cNvPr>
          <p:cNvSpPr/>
          <p:nvPr/>
        </p:nvSpPr>
        <p:spPr>
          <a:xfrm>
            <a:off x="4297680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36.6%</a:t>
            </a:r>
            <a:endParaRPr lang="en-US" sz="120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7006ECBC-4071-64F9-271C-FF34AEC15AF9}"/>
              </a:ext>
            </a:extLst>
          </p:cNvPr>
          <p:cNvSpPr/>
          <p:nvPr/>
        </p:nvSpPr>
        <p:spPr>
          <a:xfrm>
            <a:off x="7589520" y="4206240"/>
            <a:ext cx="33832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Text 32">
            <a:extLst>
              <a:ext uri="{FF2B5EF4-FFF2-40B4-BE49-F238E27FC236}">
                <a16:creationId xmlns:a16="http://schemas.microsoft.com/office/drawing/2014/main" id="{C3437600-5D61-C2CE-0FFC-90D48B9B91FD}"/>
              </a:ext>
            </a:extLst>
          </p:cNvPr>
          <p:cNvSpPr/>
          <p:nvPr/>
        </p:nvSpPr>
        <p:spPr>
          <a:xfrm>
            <a:off x="7680960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10.7%</a:t>
            </a:r>
            <a:endParaRPr lang="en-US" sz="1200" dirty="0"/>
          </a:p>
        </p:txBody>
      </p:sp>
      <p:sp>
        <p:nvSpPr>
          <p:cNvPr id="79" name="Shape 33">
            <a:extLst>
              <a:ext uri="{FF2B5EF4-FFF2-40B4-BE49-F238E27FC236}">
                <a16:creationId xmlns:a16="http://schemas.microsoft.com/office/drawing/2014/main" id="{D62D32BF-85BF-5BCE-4821-535CE0576A89}"/>
              </a:ext>
            </a:extLst>
          </p:cNvPr>
          <p:cNvSpPr/>
          <p:nvPr/>
        </p:nvSpPr>
        <p:spPr>
          <a:xfrm>
            <a:off x="914400" y="4535424"/>
            <a:ext cx="329184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64F89903-D184-E464-E702-2F9EDE63CA10}"/>
              </a:ext>
            </a:extLst>
          </p:cNvPr>
          <p:cNvSpPr/>
          <p:nvPr/>
        </p:nvSpPr>
        <p:spPr>
          <a:xfrm>
            <a:off x="1005840" y="46268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6-10</a:t>
            </a:r>
            <a:endParaRPr lang="en-US" sz="1200" dirty="0"/>
          </a:p>
        </p:txBody>
      </p:sp>
      <p:sp>
        <p:nvSpPr>
          <p:cNvPr id="83" name="Shape 35">
            <a:extLst>
              <a:ext uri="{FF2B5EF4-FFF2-40B4-BE49-F238E27FC236}">
                <a16:creationId xmlns:a16="http://schemas.microsoft.com/office/drawing/2014/main" id="{FC2FAF3F-9C1B-60CD-7BAF-0306E32D2FB1}"/>
              </a:ext>
            </a:extLst>
          </p:cNvPr>
          <p:cNvSpPr/>
          <p:nvPr/>
        </p:nvSpPr>
        <p:spPr>
          <a:xfrm>
            <a:off x="4206240" y="4535424"/>
            <a:ext cx="338328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Text 36">
            <a:extLst>
              <a:ext uri="{FF2B5EF4-FFF2-40B4-BE49-F238E27FC236}">
                <a16:creationId xmlns:a16="http://schemas.microsoft.com/office/drawing/2014/main" id="{1B11F812-AA49-EF36-CBFD-CAFBEDF9D703}"/>
              </a:ext>
            </a:extLst>
          </p:cNvPr>
          <p:cNvSpPr/>
          <p:nvPr/>
        </p:nvSpPr>
        <p:spPr>
          <a:xfrm>
            <a:off x="4297680" y="4626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13.8%</a:t>
            </a:r>
            <a:endParaRPr lang="en-US" sz="1200" dirty="0"/>
          </a:p>
        </p:txBody>
      </p:sp>
      <p:sp>
        <p:nvSpPr>
          <p:cNvPr id="87" name="Shape 37">
            <a:extLst>
              <a:ext uri="{FF2B5EF4-FFF2-40B4-BE49-F238E27FC236}">
                <a16:creationId xmlns:a16="http://schemas.microsoft.com/office/drawing/2014/main" id="{FE9D2B44-95CB-9F00-BDDF-D5EAFA5259A4}"/>
              </a:ext>
            </a:extLst>
          </p:cNvPr>
          <p:cNvSpPr/>
          <p:nvPr/>
        </p:nvSpPr>
        <p:spPr>
          <a:xfrm>
            <a:off x="7589520" y="4535424"/>
            <a:ext cx="338328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Text 38">
            <a:extLst>
              <a:ext uri="{FF2B5EF4-FFF2-40B4-BE49-F238E27FC236}">
                <a16:creationId xmlns:a16="http://schemas.microsoft.com/office/drawing/2014/main" id="{B058CE25-809D-CCE1-E895-5B0632281E88}"/>
              </a:ext>
            </a:extLst>
          </p:cNvPr>
          <p:cNvSpPr/>
          <p:nvPr/>
        </p:nvSpPr>
        <p:spPr>
          <a:xfrm>
            <a:off x="7680960" y="4626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10.1%</a:t>
            </a:r>
            <a:endParaRPr lang="en-US" sz="1200" dirty="0"/>
          </a:p>
        </p:txBody>
      </p:sp>
      <p:sp>
        <p:nvSpPr>
          <p:cNvPr id="91" name="Shape 39">
            <a:extLst>
              <a:ext uri="{FF2B5EF4-FFF2-40B4-BE49-F238E27FC236}">
                <a16:creationId xmlns:a16="http://schemas.microsoft.com/office/drawing/2014/main" id="{ABD872C6-71D9-F05B-9C92-58E27B783749}"/>
              </a:ext>
            </a:extLst>
          </p:cNvPr>
          <p:cNvSpPr/>
          <p:nvPr/>
        </p:nvSpPr>
        <p:spPr>
          <a:xfrm>
            <a:off x="914400" y="4864608"/>
            <a:ext cx="32918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5F900EE2-1587-E9E7-FEF5-954911168E8D}"/>
              </a:ext>
            </a:extLst>
          </p:cNvPr>
          <p:cNvSpPr/>
          <p:nvPr/>
        </p:nvSpPr>
        <p:spPr>
          <a:xfrm>
            <a:off x="1005840" y="4956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11-30</a:t>
            </a:r>
            <a:endParaRPr lang="en-US" sz="1200" dirty="0"/>
          </a:p>
        </p:txBody>
      </p:sp>
      <p:sp>
        <p:nvSpPr>
          <p:cNvPr id="95" name="Shape 41">
            <a:extLst>
              <a:ext uri="{FF2B5EF4-FFF2-40B4-BE49-F238E27FC236}">
                <a16:creationId xmlns:a16="http://schemas.microsoft.com/office/drawing/2014/main" id="{AED62D98-A6C1-5B0E-5221-5E60D0A9433B}"/>
              </a:ext>
            </a:extLst>
          </p:cNvPr>
          <p:cNvSpPr/>
          <p:nvPr/>
        </p:nvSpPr>
        <p:spPr>
          <a:xfrm>
            <a:off x="4206240" y="4864608"/>
            <a:ext cx="33832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Text 42">
            <a:extLst>
              <a:ext uri="{FF2B5EF4-FFF2-40B4-BE49-F238E27FC236}">
                <a16:creationId xmlns:a16="http://schemas.microsoft.com/office/drawing/2014/main" id="{AC442AD2-7642-6831-AFDB-884BF24020C7}"/>
              </a:ext>
            </a:extLst>
          </p:cNvPr>
          <p:cNvSpPr/>
          <p:nvPr/>
        </p:nvSpPr>
        <p:spPr>
          <a:xfrm>
            <a:off x="429768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13.8%</a:t>
            </a:r>
            <a:endParaRPr lang="en-US" sz="1200" dirty="0"/>
          </a:p>
        </p:txBody>
      </p:sp>
      <p:sp>
        <p:nvSpPr>
          <p:cNvPr id="99" name="Shape 43">
            <a:extLst>
              <a:ext uri="{FF2B5EF4-FFF2-40B4-BE49-F238E27FC236}">
                <a16:creationId xmlns:a16="http://schemas.microsoft.com/office/drawing/2014/main" id="{98C657E3-E30E-D499-AA1F-F5B9416988CC}"/>
              </a:ext>
            </a:extLst>
          </p:cNvPr>
          <p:cNvSpPr/>
          <p:nvPr/>
        </p:nvSpPr>
        <p:spPr>
          <a:xfrm>
            <a:off x="7589520" y="4864608"/>
            <a:ext cx="33832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Text 44">
            <a:extLst>
              <a:ext uri="{FF2B5EF4-FFF2-40B4-BE49-F238E27FC236}">
                <a16:creationId xmlns:a16="http://schemas.microsoft.com/office/drawing/2014/main" id="{F6A303DA-CF70-06C1-27B8-41AD0B4F60DB}"/>
              </a:ext>
            </a:extLst>
          </p:cNvPr>
          <p:cNvSpPr/>
          <p:nvPr/>
        </p:nvSpPr>
        <p:spPr>
          <a:xfrm>
            <a:off x="768096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23.2%</a:t>
            </a:r>
            <a:endParaRPr lang="en-US" sz="1200" dirty="0"/>
          </a:p>
        </p:txBody>
      </p:sp>
      <p:sp>
        <p:nvSpPr>
          <p:cNvPr id="103" name="Shape 45">
            <a:extLst>
              <a:ext uri="{FF2B5EF4-FFF2-40B4-BE49-F238E27FC236}">
                <a16:creationId xmlns:a16="http://schemas.microsoft.com/office/drawing/2014/main" id="{8D00D2BF-7BA2-0AA5-2A5C-D4120939728D}"/>
              </a:ext>
            </a:extLst>
          </p:cNvPr>
          <p:cNvSpPr/>
          <p:nvPr/>
        </p:nvSpPr>
        <p:spPr>
          <a:xfrm>
            <a:off x="914400" y="5193792"/>
            <a:ext cx="329184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Text 46">
            <a:extLst>
              <a:ext uri="{FF2B5EF4-FFF2-40B4-BE49-F238E27FC236}">
                <a16:creationId xmlns:a16="http://schemas.microsoft.com/office/drawing/2014/main" id="{0F858EE4-DFE8-CD6C-2453-EC6DD52A7248}"/>
              </a:ext>
            </a:extLst>
          </p:cNvPr>
          <p:cNvSpPr/>
          <p:nvPr/>
        </p:nvSpPr>
        <p:spPr>
          <a:xfrm>
            <a:off x="1005840" y="52852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31-100</a:t>
            </a:r>
            <a:endParaRPr lang="en-US" sz="1200" dirty="0"/>
          </a:p>
        </p:txBody>
      </p:sp>
      <p:sp>
        <p:nvSpPr>
          <p:cNvPr id="107" name="Shape 47">
            <a:extLst>
              <a:ext uri="{FF2B5EF4-FFF2-40B4-BE49-F238E27FC236}">
                <a16:creationId xmlns:a16="http://schemas.microsoft.com/office/drawing/2014/main" id="{8381DA0F-9251-D398-F1E0-271642F60F3D}"/>
              </a:ext>
            </a:extLst>
          </p:cNvPr>
          <p:cNvSpPr/>
          <p:nvPr/>
        </p:nvSpPr>
        <p:spPr>
          <a:xfrm>
            <a:off x="4206240" y="5193792"/>
            <a:ext cx="338328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pPr algn="ctr"/>
            <a:endParaRPr lang="zh-TW" altLang="en-US"/>
          </a:p>
        </p:txBody>
      </p:sp>
      <p:sp>
        <p:nvSpPr>
          <p:cNvPr id="109" name="Text 48">
            <a:extLst>
              <a:ext uri="{FF2B5EF4-FFF2-40B4-BE49-F238E27FC236}">
                <a16:creationId xmlns:a16="http://schemas.microsoft.com/office/drawing/2014/main" id="{DEB51653-1FCA-87D5-19C2-360ACF2D44E9}"/>
              </a:ext>
            </a:extLst>
          </p:cNvPr>
          <p:cNvSpPr/>
          <p:nvPr/>
        </p:nvSpPr>
        <p:spPr>
          <a:xfrm>
            <a:off x="4297680" y="5285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5.2%</a:t>
            </a:r>
            <a:endParaRPr lang="en-US" sz="1200" dirty="0"/>
          </a:p>
        </p:txBody>
      </p:sp>
      <p:sp>
        <p:nvSpPr>
          <p:cNvPr id="111" name="Shape 49">
            <a:extLst>
              <a:ext uri="{FF2B5EF4-FFF2-40B4-BE49-F238E27FC236}">
                <a16:creationId xmlns:a16="http://schemas.microsoft.com/office/drawing/2014/main" id="{5E8D3417-119F-E44D-E84B-BEB3DDB73625}"/>
              </a:ext>
            </a:extLst>
          </p:cNvPr>
          <p:cNvSpPr/>
          <p:nvPr/>
        </p:nvSpPr>
        <p:spPr>
          <a:xfrm>
            <a:off x="7589520" y="5193792"/>
            <a:ext cx="3383280" cy="329184"/>
          </a:xfrm>
          <a:prstGeom prst="rect">
            <a:avLst/>
          </a:prstGeom>
          <a:solidFill>
            <a:srgbClr val="EFF6F7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Text 50">
            <a:extLst>
              <a:ext uri="{FF2B5EF4-FFF2-40B4-BE49-F238E27FC236}">
                <a16:creationId xmlns:a16="http://schemas.microsoft.com/office/drawing/2014/main" id="{00CFB29F-7D6C-1B80-A908-E60FCA7FC0A2}"/>
              </a:ext>
            </a:extLst>
          </p:cNvPr>
          <p:cNvSpPr/>
          <p:nvPr/>
        </p:nvSpPr>
        <p:spPr>
          <a:xfrm>
            <a:off x="7680960" y="5285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25.5%</a:t>
            </a:r>
            <a:endParaRPr lang="en-US" sz="1200" dirty="0"/>
          </a:p>
        </p:txBody>
      </p:sp>
      <p:sp>
        <p:nvSpPr>
          <p:cNvPr id="115" name="Shape 51">
            <a:extLst>
              <a:ext uri="{FF2B5EF4-FFF2-40B4-BE49-F238E27FC236}">
                <a16:creationId xmlns:a16="http://schemas.microsoft.com/office/drawing/2014/main" id="{BE56E94F-D3CF-4245-A479-4A006A741B18}"/>
              </a:ext>
            </a:extLst>
          </p:cNvPr>
          <p:cNvSpPr/>
          <p:nvPr/>
        </p:nvSpPr>
        <p:spPr>
          <a:xfrm>
            <a:off x="914400" y="5522976"/>
            <a:ext cx="329184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Text 52">
            <a:extLst>
              <a:ext uri="{FF2B5EF4-FFF2-40B4-BE49-F238E27FC236}">
                <a16:creationId xmlns:a16="http://schemas.microsoft.com/office/drawing/2014/main" id="{C62D2DDA-1EED-8E44-4755-CB2D1DB9A00B}"/>
              </a:ext>
            </a:extLst>
          </p:cNvPr>
          <p:cNvSpPr/>
          <p:nvPr/>
        </p:nvSpPr>
        <p:spPr>
          <a:xfrm>
            <a:off x="1005840" y="56144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101+</a:t>
            </a:r>
            <a:endParaRPr lang="en-US" sz="1200" dirty="0"/>
          </a:p>
        </p:txBody>
      </p:sp>
      <p:sp>
        <p:nvSpPr>
          <p:cNvPr id="119" name="Shape 53">
            <a:extLst>
              <a:ext uri="{FF2B5EF4-FFF2-40B4-BE49-F238E27FC236}">
                <a16:creationId xmlns:a16="http://schemas.microsoft.com/office/drawing/2014/main" id="{10559D9D-6C72-B38E-4016-1D8DFE7488D2}"/>
              </a:ext>
            </a:extLst>
          </p:cNvPr>
          <p:cNvSpPr/>
          <p:nvPr/>
        </p:nvSpPr>
        <p:spPr>
          <a:xfrm>
            <a:off x="4206240" y="5522976"/>
            <a:ext cx="33832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Text 54">
            <a:extLst>
              <a:ext uri="{FF2B5EF4-FFF2-40B4-BE49-F238E27FC236}">
                <a16:creationId xmlns:a16="http://schemas.microsoft.com/office/drawing/2014/main" id="{A35263F6-5581-24D3-F2F4-EC70955243D6}"/>
              </a:ext>
            </a:extLst>
          </p:cNvPr>
          <p:cNvSpPr/>
          <p:nvPr/>
        </p:nvSpPr>
        <p:spPr>
          <a:xfrm>
            <a:off x="4297680" y="5614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1.3%</a:t>
            </a:r>
            <a:endParaRPr lang="en-US" sz="1200" dirty="0"/>
          </a:p>
        </p:txBody>
      </p:sp>
      <p:sp>
        <p:nvSpPr>
          <p:cNvPr id="123" name="Shape 55">
            <a:extLst>
              <a:ext uri="{FF2B5EF4-FFF2-40B4-BE49-F238E27FC236}">
                <a16:creationId xmlns:a16="http://schemas.microsoft.com/office/drawing/2014/main" id="{132843A2-6DDC-A7A6-19AC-19002D13E768}"/>
              </a:ext>
            </a:extLst>
          </p:cNvPr>
          <p:cNvSpPr/>
          <p:nvPr/>
        </p:nvSpPr>
        <p:spPr>
          <a:xfrm>
            <a:off x="7589520" y="5522976"/>
            <a:ext cx="33832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Text 56">
            <a:extLst>
              <a:ext uri="{FF2B5EF4-FFF2-40B4-BE49-F238E27FC236}">
                <a16:creationId xmlns:a16="http://schemas.microsoft.com/office/drawing/2014/main" id="{64FFB7F7-237E-D676-2139-72539B8524F8}"/>
              </a:ext>
            </a:extLst>
          </p:cNvPr>
          <p:cNvSpPr/>
          <p:nvPr/>
        </p:nvSpPr>
        <p:spPr>
          <a:xfrm>
            <a:off x="7680960" y="5614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27.7%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第三章｜OD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 OD 具有明顯的長尾需求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06424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321040" y="660196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統計實務｜國三大溪－龍潭北向</a:t>
            </a:r>
            <a:r>
              <a:rPr lang="en-US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</a:t>
            </a:r>
            <a:r>
              <a:rPr lang="en-US" altLang="zh-TW" sz="8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58341" y="1481329"/>
            <a:ext cx="3154680" cy="1143000"/>
          </a:xfrm>
          <a:prstGeom prst="roundRect">
            <a:avLst>
              <a:gd name="adj" fmla="val 5525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141219" y="1664208"/>
            <a:ext cx="3121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16,350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1219" y="1938528"/>
            <a:ext cx="3121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 OD 組合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96101" y="1485900"/>
            <a:ext cx="3154680" cy="1143000"/>
          </a:xfrm>
          <a:prstGeom prst="roundRect">
            <a:avLst>
              <a:gd name="adj" fmla="val 5525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15557" y="1668779"/>
            <a:ext cx="3121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9,266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5557" y="1943099"/>
            <a:ext cx="3121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筆以下 OD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98637" y="1723643"/>
            <a:ext cx="312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56.7% 的 OD</a:t>
            </a:r>
            <a:endParaRPr lang="en-US" sz="1100" dirty="0"/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8CE0D407-00B7-1A94-F458-1F04F17B0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76371"/>
              </p:ext>
            </p:extLst>
          </p:nvPr>
        </p:nvGraphicFramePr>
        <p:xfrm>
          <a:off x="1958341" y="2999044"/>
          <a:ext cx="8092440" cy="227723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109796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618855057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4039344415"/>
                    </a:ext>
                  </a:extLst>
                </a:gridCol>
              </a:tblGrid>
              <a:tr h="379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2024 年最低旅次門檻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符合資格的 OD 組數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涵蓋 2025 年需求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593781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30 筆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4,256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97.80%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960769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100 筆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3,103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97.51%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35824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300 筆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2,182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96.76%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44991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500 筆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1,813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96.14%</a:t>
                      </a:r>
                    </a:p>
                  </a:txBody>
                  <a:tcPr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032202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1,000 筆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/>
                        <a:t>1,314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/>
                        <a:t>94.55%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687821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1975E7C2-A023-AC0F-C86F-F93021F95592}"/>
              </a:ext>
            </a:extLst>
          </p:cNvPr>
          <p:cNvSpPr txBox="1"/>
          <p:nvPr/>
        </p:nvSpPr>
        <p:spPr>
          <a:xfrm>
            <a:off x="2454825" y="5664709"/>
            <a:ext cx="7282349" cy="384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16,350 組 OD → 56.7% 的 OD 不超過 10 筆 →  篩選適合分群的 OD。</a:t>
            </a:r>
            <a:endParaRPr lang="zh-TW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118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634" y="676656"/>
            <a:ext cx="9144000" cy="398571"/>
          </a:xfrm>
          <a:prstGeom prst="rect">
            <a:avLst/>
          </a:prstGeom>
          <a:noFill/>
        </p:spPr>
        <p:txBody>
          <a:bodyPr wrap="square" lIns="18288" tIns="13716" rIns="18288" bIns="0">
            <a:spAutoFit/>
          </a:bodyPr>
          <a:lstStyle/>
          <a:p>
            <a:r>
              <a:rPr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</a:rPr>
              <a:t>EDA </a:t>
            </a:r>
            <a:r>
              <a:rPr sz="2500" b="1" dirty="0" err="1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</a:rPr>
              <a:t>總結｜從探索結果形成研究假設</a:t>
            </a:r>
            <a:endParaRPr sz="2500" b="1" dirty="0">
              <a:solidFill>
                <a:srgbClr val="142D42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55680" cy="10972"/>
          </a:xfrm>
          <a:prstGeom prst="rect">
            <a:avLst/>
          </a:prstGeom>
          <a:solidFill>
            <a:srgbClr val="D2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39327" y="6592824"/>
            <a:ext cx="3383280" cy="136961"/>
          </a:xfrm>
          <a:prstGeom prst="rect">
            <a:avLst/>
          </a:prstGeom>
          <a:noFill/>
        </p:spPr>
        <p:txBody>
          <a:bodyPr wrap="square" lIns="18288" tIns="13716" rIns="18288" bIns="0">
            <a:spAutoFit/>
          </a:bodyPr>
          <a:lstStyle/>
          <a:p>
            <a:pPr algn="r">
              <a:defRPr sz="800" b="0">
                <a:solidFill>
                  <a:srgbClr val="667D91"/>
                </a:solidFill>
                <a:latin typeface="Microsoft JhengHei"/>
              </a:defRPr>
            </a:pPr>
            <a:r>
              <a:rPr dirty="0" err="1"/>
              <a:t>統計實務｜國三大溪－龍潭北向</a:t>
            </a:r>
            <a:r>
              <a:rPr dirty="0"/>
              <a:t>    1</a:t>
            </a:r>
            <a:r>
              <a:rPr lang="en-US" altLang="zh-TW" dirty="0"/>
              <a:t>7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13232" y="1435608"/>
            <a:ext cx="10789920" cy="1060704"/>
          </a:xfrm>
          <a:prstGeom prst="roundRect">
            <a:avLst/>
          </a:prstGeom>
          <a:solidFill>
            <a:srgbClr val="F5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2688" y="1609344"/>
            <a:ext cx="640080" cy="640080"/>
          </a:xfrm>
          <a:prstGeom prst="roundRect">
            <a:avLst/>
          </a:prstGeom>
          <a:solidFill>
            <a:srgbClr val="128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6" y="1719072"/>
            <a:ext cx="512064" cy="30175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1697914"/>
            <a:ext cx="2971800" cy="39319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>
              <a:defRPr sz="1900" b="1">
                <a:solidFill>
                  <a:srgbClr val="1D3548"/>
                </a:solidFill>
                <a:latin typeface="Microsoft JhengHei"/>
              </a:defRPr>
            </a:pPr>
            <a:r>
              <a:t>資料可靠性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1572770"/>
            <a:ext cx="6428232" cy="634404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>
              <a:lnSpc>
                <a:spcPct val="150000"/>
              </a:lnSpc>
              <a:defRPr sz="1400" b="0">
                <a:solidFill>
                  <a:srgbClr val="273B46"/>
                </a:solidFill>
                <a:latin typeface="Microsoft JhengHei"/>
              </a:defRPr>
            </a:pPr>
            <a:r>
              <a:t>辨識缺漏時段、特殊狀態碼及異常旅次，</a:t>
            </a:r>
          </a:p>
          <a:p>
            <a:pPr>
              <a:lnSpc>
                <a:spcPct val="150000"/>
              </a:lnSpc>
              <a:defRPr sz="1400" b="0">
                <a:solidFill>
                  <a:srgbClr val="273B46"/>
                </a:solidFill>
                <a:latin typeface="Microsoft JhengHei"/>
              </a:defRPr>
            </a:pPr>
            <a:r>
              <a:t>避免模型將資料問題誤認為交通現象。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688336"/>
            <a:ext cx="10789920" cy="1060704"/>
          </a:xfrm>
          <a:prstGeom prst="roundRect">
            <a:avLst/>
          </a:prstGeom>
          <a:solidFill>
            <a:srgbClr val="F5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2688" y="2862072"/>
            <a:ext cx="640080" cy="640080"/>
          </a:xfrm>
          <a:prstGeom prst="roundRect">
            <a:avLst/>
          </a:prstGeom>
          <a:solidFill>
            <a:srgbClr val="128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6" y="2971800"/>
            <a:ext cx="512064" cy="30175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2950642"/>
            <a:ext cx="2971800" cy="39319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>
              <a:defRPr sz="1900" b="1">
                <a:solidFill>
                  <a:srgbClr val="1D3548"/>
                </a:solidFill>
                <a:latin typeface="Microsoft JhengHei"/>
              </a:defRPr>
            </a:pPr>
            <a:r>
              <a:t>需求結構差異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825498"/>
            <a:ext cx="6428232" cy="634404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>
              <a:lnSpc>
                <a:spcPct val="150000"/>
              </a:lnSpc>
              <a:defRPr sz="1400" b="0">
                <a:solidFill>
                  <a:srgbClr val="273B46"/>
                </a:solidFill>
                <a:latin typeface="Microsoft JhengHei"/>
              </a:defRPr>
            </a:pPr>
            <a:r>
              <a:t>平日、週末與連假具有不同時間型態；</a:t>
            </a:r>
          </a:p>
          <a:p>
            <a:pPr>
              <a:lnSpc>
                <a:spcPct val="150000"/>
              </a:lnSpc>
              <a:defRPr sz="1400" b="0">
                <a:solidFill>
                  <a:srgbClr val="273B46"/>
                </a:solidFill>
                <a:latin typeface="Microsoft JhengHei"/>
              </a:defRPr>
            </a:pPr>
            <a:r>
              <a:t>車種、距離及 OD 組成也隨情境變動。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941064"/>
            <a:ext cx="10789920" cy="1060704"/>
          </a:xfrm>
          <a:prstGeom prst="roundRect">
            <a:avLst/>
          </a:prstGeom>
          <a:solidFill>
            <a:srgbClr val="EE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2688" y="4114800"/>
            <a:ext cx="640080" cy="640080"/>
          </a:xfrm>
          <a:prstGeom prst="roundRect">
            <a:avLst/>
          </a:prstGeom>
          <a:solidFill>
            <a:srgbClr val="128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6" y="4224528"/>
            <a:ext cx="512064" cy="30175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4203370"/>
            <a:ext cx="2971800" cy="39319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>
              <a:defRPr sz="1900" b="1">
                <a:solidFill>
                  <a:srgbClr val="1D3548"/>
                </a:solidFill>
                <a:latin typeface="Microsoft JhengHei"/>
              </a:defRPr>
            </a:pPr>
            <a:r>
              <a:t>形成研究假設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078226"/>
            <a:ext cx="6428232" cy="634404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>
              <a:lnSpc>
                <a:spcPct val="150000"/>
              </a:lnSpc>
              <a:defRPr sz="1400" b="0">
                <a:solidFill>
                  <a:srgbClr val="273B46"/>
                </a:solidFill>
                <a:latin typeface="Microsoft JhengHei"/>
              </a:defRPr>
            </a:pPr>
            <a:r>
              <a:rPr dirty="0" err="1"/>
              <a:t>相同總需求下，不同旅次來源與</a:t>
            </a:r>
            <a:r>
              <a:rPr dirty="0"/>
              <a:t> OD </a:t>
            </a:r>
            <a:r>
              <a:rPr dirty="0" err="1"/>
              <a:t>群組組成</a:t>
            </a:r>
            <a:r>
              <a:rPr dirty="0"/>
              <a:t>，</a:t>
            </a:r>
          </a:p>
          <a:p>
            <a:pPr>
              <a:lnSpc>
                <a:spcPct val="150000"/>
              </a:lnSpc>
              <a:defRPr sz="1400" b="0">
                <a:solidFill>
                  <a:srgbClr val="273B46"/>
                </a:solidFill>
                <a:latin typeface="Microsoft JhengHei"/>
              </a:defRPr>
            </a:pPr>
            <a:r>
              <a:rPr dirty="0" err="1"/>
              <a:t>是否提供額外的未來低速風險資訊</a:t>
            </a:r>
            <a:r>
              <a:rPr dirty="0"/>
              <a:t>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422392"/>
            <a:ext cx="10789920" cy="704088"/>
          </a:xfrm>
          <a:prstGeom prst="roundRect">
            <a:avLst/>
          </a:prstGeom>
          <a:solidFill>
            <a:srgbClr val="128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" y="5596128"/>
            <a:ext cx="10250424" cy="35661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JhengHei"/>
              </a:defRPr>
            </a:pPr>
            <a:r>
              <a:t>核心提問｜在控制時間、天氣、歷史 VD 與總需求後，OD 組成能否改善低速預測？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30352" y="274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第四章｜分群方法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四種觀點辨識</a:t>
            </a: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OD </a:t>
            </a:r>
            <a:r>
              <a:rPr lang="zh-TW" alt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22529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 OD 資料，對「什麼叫做一群」可以有不同定義；因此不預設單一方法一定最好。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可能納入的 OD 特徵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056965"/>
            <a:ext cx="1143000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21792" y="2117065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空間位置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10512" y="2056965"/>
            <a:ext cx="960120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865376" y="2111829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旅次量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71216" y="2056965"/>
            <a:ext cx="1143000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926080" y="2113514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旅次距離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2056965"/>
            <a:ext cx="1143000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169664" y="2117065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時間型態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58384" y="2056965"/>
            <a:ext cx="1024128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413248" y="211706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DayType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83096" y="2056965"/>
            <a:ext cx="1143000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7960" y="2122223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車種組成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892121"/>
            <a:ext cx="2596896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768096" y="3093289"/>
            <a:ext cx="475488" cy="475488"/>
          </a:xfrm>
          <a:prstGeom prst="ellipse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68096" y="3259131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53312" y="3065857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53312" y="3385897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中心距離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" y="3826059"/>
            <a:ext cx="2194560" cy="6047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反覆更新群平均中心，讓群內平方距離盡量小</a:t>
            </a:r>
            <a:r>
              <a:rPr lang="en-US" sz="110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00" b="1" dirty="0"/>
          </a:p>
        </p:txBody>
      </p:sp>
      <p:sp>
        <p:nvSpPr>
          <p:cNvPr id="27" name="Shape 25"/>
          <p:cNvSpPr/>
          <p:nvPr/>
        </p:nvSpPr>
        <p:spPr>
          <a:xfrm>
            <a:off x="3374136" y="2892121"/>
            <a:ext cx="2596896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575304" y="3093289"/>
            <a:ext cx="475488" cy="475488"/>
          </a:xfrm>
          <a:prstGeom prst="ellipse">
            <a:avLst/>
          </a:prstGeom>
          <a:solidFill>
            <a:srgbClr val="17304B"/>
          </a:solidFill>
          <a:ln w="12700">
            <a:solidFill>
              <a:srgbClr val="1730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3569442" y="3248737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60520" y="3065857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60520" y="3385897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階層關係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89020" y="3897743"/>
            <a:ext cx="2194560" cy="4850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從每筆資料各自成群，逐步合併，觀察 dendrogram 的階層結構。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81344" y="2892121"/>
            <a:ext cx="2596896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6382512" y="3093289"/>
            <a:ext cx="475488" cy="475488"/>
          </a:xfrm>
          <a:prstGeom prst="ellipse">
            <a:avLst/>
          </a:prstGeom>
          <a:solidFill>
            <a:srgbClr val="188A90"/>
          </a:solidFill>
          <a:ln w="12700">
            <a:solidFill>
              <a:srgbClr val="188A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382512" y="3248737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67728" y="3065857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67728" y="3385897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資料密度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82512" y="3863260"/>
            <a:ext cx="2194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不找中心，而是尋找高密度區域；孤立點可以保留為 noise。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88552" y="2892121"/>
            <a:ext cx="2596896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9189720" y="3093289"/>
            <a:ext cx="475488" cy="475488"/>
          </a:xfrm>
          <a:prstGeom prst="ellipse">
            <a:avLst/>
          </a:prstGeom>
          <a:solidFill>
            <a:srgbClr val="AF5448"/>
          </a:solidFill>
          <a:ln w="12700">
            <a:solidFill>
              <a:srgbClr val="AF544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9189720" y="326046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74936" y="3065857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74936" y="3385897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F54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機率分布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71432" y="3906671"/>
            <a:ext cx="2194560" cy="47548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membership probability 描述群組隸屬，允許模糊邊界。</a:t>
            </a:r>
            <a:endParaRPr lang="en-US" sz="1100" dirty="0"/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80D0FFFF-D933-CFA9-608D-027DD26FFCE8}"/>
              </a:ext>
            </a:extLst>
          </p:cNvPr>
          <p:cNvSpPr txBox="1"/>
          <p:nvPr/>
        </p:nvSpPr>
        <p:spPr>
          <a:xfrm>
            <a:off x="8339327" y="6592824"/>
            <a:ext cx="3383280" cy="136961"/>
          </a:xfrm>
          <a:prstGeom prst="rect">
            <a:avLst/>
          </a:prstGeom>
          <a:noFill/>
        </p:spPr>
        <p:txBody>
          <a:bodyPr wrap="square" lIns="18288" tIns="13716" rIns="18288" bIns="0">
            <a:spAutoFit/>
          </a:bodyPr>
          <a:lstStyle/>
          <a:p>
            <a:pPr algn="r">
              <a:defRPr sz="800" b="0">
                <a:solidFill>
                  <a:srgbClr val="667D91"/>
                </a:solidFill>
                <a:latin typeface="Microsoft JhengHei"/>
              </a:defRPr>
            </a:pPr>
            <a:r>
              <a:rPr dirty="0" err="1"/>
              <a:t>統計實務｜國三大溪－龍潭北向</a:t>
            </a:r>
            <a:r>
              <a:rPr dirty="0"/>
              <a:t>    1</a:t>
            </a:r>
            <a:r>
              <a:rPr lang="en-US" altLang="zh-TW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8"/>
          <p:cNvSpPr/>
          <p:nvPr/>
        </p:nvSpPr>
        <p:spPr>
          <a:xfrm>
            <a:off x="7447135" y="1495044"/>
            <a:ext cx="4096512" cy="1170432"/>
          </a:xfrm>
          <a:prstGeom prst="roundRect">
            <a:avLst>
              <a:gd name="adj" fmla="val 5556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30352" y="274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第四章｜K-MEANS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K-means｜反覆更新群中心，建立基準分群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57784" y="1581912"/>
            <a:ext cx="662940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3504" y="1627632"/>
            <a:ext cx="6537960" cy="43159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99248" y="157276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目標：讓群內差異最小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9446" y="1867444"/>
            <a:ext cx="3031889" cy="6995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61504" y="2834640"/>
            <a:ext cx="4096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1"/>
          <p:cNvSpPr/>
          <p:nvPr/>
        </p:nvSpPr>
        <p:spPr>
          <a:xfrm>
            <a:off x="7699248" y="3017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演算法概念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863840" y="3282696"/>
            <a:ext cx="332841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先放入 K 個暫時中心</a:t>
            </a:r>
            <a:endParaRPr lang="en-US" sz="1010" dirty="0"/>
          </a:p>
        </p:txBody>
      </p:sp>
      <p:sp>
        <p:nvSpPr>
          <p:cNvPr id="19" name="Text 15"/>
          <p:cNvSpPr/>
          <p:nvPr/>
        </p:nvSpPr>
        <p:spPr>
          <a:xfrm>
            <a:off x="7863840" y="3506724"/>
            <a:ext cx="332841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分配到最近中心</a:t>
            </a:r>
            <a:endParaRPr lang="en-US" sz="1010" dirty="0"/>
          </a:p>
        </p:txBody>
      </p:sp>
      <p:sp>
        <p:nvSpPr>
          <p:cNvPr id="21" name="Text 17"/>
          <p:cNvSpPr/>
          <p:nvPr/>
        </p:nvSpPr>
        <p:spPr>
          <a:xfrm>
            <a:off x="7863840" y="3730752"/>
            <a:ext cx="332841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重新計算群平均</a:t>
            </a:r>
            <a:endParaRPr lang="en-US" sz="1010" dirty="0"/>
          </a:p>
        </p:txBody>
      </p:sp>
      <p:sp>
        <p:nvSpPr>
          <p:cNvPr id="23" name="Text 19"/>
          <p:cNvSpPr/>
          <p:nvPr/>
        </p:nvSpPr>
        <p:spPr>
          <a:xfrm>
            <a:off x="7863840" y="3954780"/>
            <a:ext cx="332841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反覆直到不再改變</a:t>
            </a:r>
            <a:endParaRPr lang="en-US" sz="1010" dirty="0"/>
          </a:p>
        </p:txBody>
      </p:sp>
      <p:sp>
        <p:nvSpPr>
          <p:cNvPr id="24" name="Shape 20"/>
          <p:cNvSpPr/>
          <p:nvPr/>
        </p:nvSpPr>
        <p:spPr>
          <a:xfrm>
            <a:off x="7461504" y="4443984"/>
            <a:ext cx="4096512" cy="1499616"/>
          </a:xfrm>
          <a:prstGeom prst="roundRect">
            <a:avLst>
              <a:gd name="adj" fmla="val 4878"/>
            </a:avLst>
          </a:prstGeom>
          <a:solidFill>
            <a:srgbClr val="EFF6F7"/>
          </a:solidFill>
          <a:ln w="12700">
            <a:solidFill>
              <a:srgbClr val="D8ED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1"/>
          <p:cNvSpPr/>
          <p:nvPr/>
        </p:nvSpPr>
        <p:spPr>
          <a:xfrm>
            <a:off x="7699248" y="4645152"/>
            <a:ext cx="1261872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2"/>
          <p:cNvSpPr/>
          <p:nvPr/>
        </p:nvSpPr>
        <p:spPr>
          <a:xfrm>
            <a:off x="7754112" y="468172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為什麼先用它？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699248" y="50566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快速、直觀，適合作為 baseline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7699248" y="5422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注意：需先指定 K；對尺度、離群值與群形狀較敏感。</a:t>
            </a:r>
            <a:endParaRPr lang="en-US" sz="1050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7FC9C484-51A4-6748-1CA7-11FD4E82A867}"/>
              </a:ext>
            </a:extLst>
          </p:cNvPr>
          <p:cNvSpPr txBox="1"/>
          <p:nvPr/>
        </p:nvSpPr>
        <p:spPr>
          <a:xfrm>
            <a:off x="8339327" y="6592824"/>
            <a:ext cx="3383280" cy="136961"/>
          </a:xfrm>
          <a:prstGeom prst="rect">
            <a:avLst/>
          </a:prstGeom>
          <a:noFill/>
        </p:spPr>
        <p:txBody>
          <a:bodyPr wrap="square" lIns="18288" tIns="13716" rIns="18288" bIns="0">
            <a:spAutoFit/>
          </a:bodyPr>
          <a:lstStyle/>
          <a:p>
            <a:pPr algn="r">
              <a:defRPr sz="800" b="0">
                <a:solidFill>
                  <a:srgbClr val="667D91"/>
                </a:solidFill>
                <a:latin typeface="Microsoft JhengHei"/>
              </a:defRPr>
            </a:pPr>
            <a:r>
              <a:rPr dirty="0" err="1"/>
              <a:t>統計實務｜國三大溪－龍潭北向</a:t>
            </a:r>
            <a:r>
              <a:rPr dirty="0"/>
              <a:t>    </a:t>
            </a:r>
            <a:r>
              <a:rPr lang="en-US" altLang="zh-TW" dirty="0"/>
              <a:t>19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30352" y="274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第四章｜HIERARCHICAL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Hierarchical｜逐步合併，觀察 OD 的階層結構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57784" y="1581912"/>
            <a:ext cx="69037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3504" y="1627632"/>
            <a:ext cx="6812280" cy="3840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80960" y="1316736"/>
            <a:ext cx="3877056" cy="1143000"/>
          </a:xfrm>
          <a:prstGeom prst="roundRect">
            <a:avLst>
              <a:gd name="adj" fmla="val 6400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7918704" y="1554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完整階層會一路合併到 1 群</a:t>
            </a:r>
            <a:endParaRPr lang="en-US" sz="11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657" y="1952244"/>
            <a:ext cx="3240895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680960" y="2679192"/>
            <a:ext cx="387705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1"/>
          <p:cNvSpPr/>
          <p:nvPr/>
        </p:nvSpPr>
        <p:spPr>
          <a:xfrm>
            <a:off x="7827264" y="2900934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真正的結果：在</a:t>
            </a:r>
            <a:r>
              <a:rPr lang="zh-TW" altLang="en-US" sz="11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樹枝狀圖</a:t>
            </a:r>
            <a:r>
              <a:rPr lang="en-US" altLang="zh-TW" sz="11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en-US" sz="11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dendrogram</a:t>
            </a:r>
            <a:r>
              <a:rPr lang="en-US" altLang="zh-TW" sz="11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r>
              <a:rPr lang="en-US" sz="1150" b="1" dirty="0" err="1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適當高度切開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918704" y="33832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例如切成 3 群，而不是把「最後 1 群」當作分群答案。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680960" y="4242816"/>
            <a:ext cx="3877056" cy="1417320"/>
          </a:xfrm>
          <a:prstGeom prst="roundRect">
            <a:avLst>
              <a:gd name="adj" fmla="val 5161"/>
            </a:avLst>
          </a:prstGeom>
          <a:solidFill>
            <a:srgbClr val="EFF6F7"/>
          </a:solidFill>
          <a:ln w="12700">
            <a:solidFill>
              <a:srgbClr val="D8ED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4"/>
          <p:cNvSpPr/>
          <p:nvPr/>
        </p:nvSpPr>
        <p:spPr>
          <a:xfrm>
            <a:off x="7918704" y="4443984"/>
            <a:ext cx="932688" cy="310896"/>
          </a:xfrm>
          <a:prstGeom prst="roundRect">
            <a:avLst/>
          </a:prstGeom>
          <a:solidFill>
            <a:srgbClr val="17304B">
              <a:alpha val="12000"/>
            </a:srgbClr>
          </a:solidFill>
          <a:ln w="12700">
            <a:solidFill>
              <a:srgbClr val="17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7973568" y="4480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合併準則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973568" y="4838265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20" dirty="0" err="1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動畫</a:t>
            </a:r>
            <a:r>
              <a:rPr lang="zh-TW" altLang="en-US" sz="102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</a:t>
            </a:r>
            <a:r>
              <a:rPr lang="en-US" sz="102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Single linkage </a:t>
            </a:r>
            <a:r>
              <a:rPr lang="zh-TW" altLang="en-US" sz="102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</a:t>
            </a:r>
            <a:r>
              <a:rPr lang="en-US" sz="102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現「</a:t>
            </a:r>
            <a:r>
              <a:rPr lang="zh-TW" altLang="en-US" sz="102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</a:t>
            </a:r>
            <a:r>
              <a:rPr lang="en-US" sz="1020" dirty="0" err="1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最近兩群逐步連起來</a:t>
            </a:r>
            <a:r>
              <a:rPr lang="en-US" sz="102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」；</a:t>
            </a:r>
            <a:r>
              <a:rPr lang="en-US" sz="1020" dirty="0" err="1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正式比較可</a:t>
            </a:r>
            <a:r>
              <a:rPr lang="zh-TW" altLang="en-US" sz="102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</a:t>
            </a:r>
            <a:r>
              <a:rPr lang="en-US" sz="1020" dirty="0" err="1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</a:t>
            </a:r>
            <a:r>
              <a:rPr lang="en-US" sz="102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Ward linkage，使每次合併造成的群內變異增加最小。</a:t>
            </a:r>
            <a:endParaRPr lang="en-US" sz="1020" dirty="0"/>
          </a:p>
        </p:txBody>
      </p:sp>
      <p:sp>
        <p:nvSpPr>
          <p:cNvPr id="21" name="Text 17"/>
          <p:cNvSpPr/>
          <p:nvPr/>
        </p:nvSpPr>
        <p:spPr>
          <a:xfrm>
            <a:off x="749808" y="57241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用途：檢查 K=2、3、4 是否具有自然的階層結構。</a:t>
            </a:r>
            <a:endParaRPr lang="en-US" sz="1150"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BD59979A-8B7A-3443-8D62-0222305DAAB3}"/>
              </a:ext>
            </a:extLst>
          </p:cNvPr>
          <p:cNvSpPr txBox="1"/>
          <p:nvPr/>
        </p:nvSpPr>
        <p:spPr>
          <a:xfrm>
            <a:off x="8339327" y="6592824"/>
            <a:ext cx="3383280" cy="136961"/>
          </a:xfrm>
          <a:prstGeom prst="rect">
            <a:avLst/>
          </a:prstGeom>
          <a:noFill/>
        </p:spPr>
        <p:txBody>
          <a:bodyPr wrap="square" lIns="18288" tIns="13716" rIns="18288" bIns="0">
            <a:spAutoFit/>
          </a:bodyPr>
          <a:lstStyle/>
          <a:p>
            <a:pPr algn="r">
              <a:defRPr sz="800" b="0">
                <a:solidFill>
                  <a:srgbClr val="667D91"/>
                </a:solidFill>
                <a:latin typeface="Microsoft JhengHei"/>
              </a:defRPr>
            </a:pPr>
            <a:r>
              <a:rPr dirty="0" err="1"/>
              <a:t>統計實務｜國三大溪－龍潭北向</a:t>
            </a:r>
            <a:r>
              <a:rPr dirty="0"/>
              <a:t>    </a:t>
            </a:r>
            <a:r>
              <a:rPr lang="en-US" altLang="zh-TW" dirty="0"/>
              <a:t>20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30352" y="274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第四章｜DBSCAN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DBSCAN｜不找中心，而是從資料密度形成群組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57784" y="1581912"/>
            <a:ext cx="662940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3504" y="1627632"/>
            <a:ext cx="6537960" cy="43159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61504" y="1380744"/>
            <a:ext cx="4096512" cy="1280160"/>
          </a:xfrm>
          <a:prstGeom prst="roundRect">
            <a:avLst>
              <a:gd name="adj" fmla="val 5714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Text 9"/>
          <p:cNvSpPr/>
          <p:nvPr/>
        </p:nvSpPr>
        <p:spPr>
          <a:xfrm>
            <a:off x="7699248" y="15196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核心條件</a:t>
            </a:r>
            <a:endParaRPr lang="en-US" sz="11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9608" y="1839249"/>
            <a:ext cx="3216075" cy="265176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7292" y="2231136"/>
            <a:ext cx="3401569" cy="27114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461504" y="2816352"/>
            <a:ext cx="4096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1"/>
          <p:cNvSpPr/>
          <p:nvPr/>
        </p:nvSpPr>
        <p:spPr>
          <a:xfrm>
            <a:off x="7699248" y="29992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三種角色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699248" y="3383280"/>
            <a:ext cx="768096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3"/>
          <p:cNvSpPr/>
          <p:nvPr/>
        </p:nvSpPr>
        <p:spPr>
          <a:xfrm>
            <a:off x="7754112" y="34546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577072" y="3383280"/>
            <a:ext cx="841248" cy="310896"/>
          </a:xfrm>
          <a:prstGeom prst="roundRect">
            <a:avLst/>
          </a:prstGeom>
          <a:solidFill>
            <a:srgbClr val="17304B">
              <a:alpha val="12000"/>
            </a:srgbClr>
          </a:solidFill>
          <a:ln w="12700">
            <a:solidFill>
              <a:srgbClr val="17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5"/>
          <p:cNvSpPr/>
          <p:nvPr/>
        </p:nvSpPr>
        <p:spPr>
          <a:xfrm>
            <a:off x="8631936" y="34546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Border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537192" y="3383280"/>
            <a:ext cx="822960" cy="310896"/>
          </a:xfrm>
          <a:prstGeom prst="roundRect">
            <a:avLst/>
          </a:prstGeom>
          <a:solidFill>
            <a:srgbClr val="AF5448">
              <a:alpha val="12000"/>
            </a:srgbClr>
          </a:solidFill>
          <a:ln w="12700">
            <a:solidFill>
              <a:srgbClr val="AF54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7"/>
          <p:cNvSpPr/>
          <p:nvPr/>
        </p:nvSpPr>
        <p:spPr>
          <a:xfrm>
            <a:off x="9592056" y="34546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F54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Noise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7699248" y="38404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core point 向外擴張；孤立資料不必硬塞進某一群。</a:t>
            </a:r>
            <a:endParaRPr lang="en-US" sz="1070" dirty="0"/>
          </a:p>
        </p:txBody>
      </p:sp>
      <p:sp>
        <p:nvSpPr>
          <p:cNvPr id="24" name="Shape 19"/>
          <p:cNvSpPr/>
          <p:nvPr/>
        </p:nvSpPr>
        <p:spPr>
          <a:xfrm>
            <a:off x="7461504" y="4443984"/>
            <a:ext cx="4096512" cy="1499616"/>
          </a:xfrm>
          <a:prstGeom prst="roundRect">
            <a:avLst>
              <a:gd name="adj" fmla="val 4878"/>
            </a:avLst>
          </a:prstGeom>
          <a:solidFill>
            <a:srgbClr val="EFF6F7"/>
          </a:solidFill>
          <a:ln w="12700">
            <a:solidFill>
              <a:srgbClr val="D8ED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0"/>
          <p:cNvSpPr/>
          <p:nvPr/>
        </p:nvSpPr>
        <p:spPr>
          <a:xfrm>
            <a:off x="7699248" y="4645152"/>
            <a:ext cx="1207008" cy="310896"/>
          </a:xfrm>
          <a:prstGeom prst="roundRect">
            <a:avLst/>
          </a:prstGeom>
          <a:solidFill>
            <a:srgbClr val="188A90">
              <a:alpha val="12000"/>
            </a:srgbClr>
          </a:solidFill>
          <a:ln w="12700">
            <a:solidFill>
              <a:srgbClr val="188A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1"/>
          <p:cNvSpPr/>
          <p:nvPr/>
        </p:nvSpPr>
        <p:spPr>
          <a:xfrm>
            <a:off x="7754112" y="47165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OD 的意義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699248" y="5047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不需先指定 K，也能辨識不規則形狀的群。</a:t>
            </a:r>
            <a:endParaRPr lang="en-US" sz="1120" dirty="0"/>
          </a:p>
        </p:txBody>
      </p:sp>
      <p:sp>
        <p:nvSpPr>
          <p:cNvPr id="28" name="Text 23"/>
          <p:cNvSpPr/>
          <p:nvPr/>
        </p:nvSpPr>
        <p:spPr>
          <a:xfrm>
            <a:off x="7699248" y="540410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可檢查少量特殊 OD 是「真正的小群」還是零散異常點。</a:t>
            </a:r>
            <a:endParaRPr lang="en-US" sz="1050"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2957C65-DF2A-7D16-11EE-B07B481F516A}"/>
              </a:ext>
            </a:extLst>
          </p:cNvPr>
          <p:cNvSpPr txBox="1"/>
          <p:nvPr/>
        </p:nvSpPr>
        <p:spPr>
          <a:xfrm>
            <a:off x="8339327" y="6592824"/>
            <a:ext cx="3383280" cy="136961"/>
          </a:xfrm>
          <a:prstGeom prst="rect">
            <a:avLst/>
          </a:prstGeom>
          <a:noFill/>
        </p:spPr>
        <p:txBody>
          <a:bodyPr wrap="square" lIns="18288" tIns="13716" rIns="18288" bIns="0">
            <a:spAutoFit/>
          </a:bodyPr>
          <a:lstStyle/>
          <a:p>
            <a:pPr algn="r">
              <a:defRPr sz="800" b="0">
                <a:solidFill>
                  <a:srgbClr val="667D91"/>
                </a:solidFill>
                <a:latin typeface="Microsoft JhengHei"/>
              </a:defRPr>
            </a:pPr>
            <a:r>
              <a:rPr dirty="0" err="1"/>
              <a:t>統計實務｜國三大溪－龍潭北向</a:t>
            </a:r>
            <a:r>
              <a:rPr dirty="0"/>
              <a:t>    </a:t>
            </a:r>
            <a:r>
              <a:rPr lang="en-US" altLang="zh-TW" dirty="0"/>
              <a:t>21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530352" y="6556248"/>
            <a:ext cx="1110996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30352" y="274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8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第四章｜GMM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3093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GMM｜用機率描述群組隸屬，允許模糊邊界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57784" y="1581912"/>
            <a:ext cx="662940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3504" y="1627632"/>
            <a:ext cx="6537960" cy="43159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52360" y="1368334"/>
            <a:ext cx="4096512" cy="1325880"/>
          </a:xfrm>
          <a:prstGeom prst="roundRect">
            <a:avLst>
              <a:gd name="adj" fmla="val 5517"/>
            </a:avLst>
          </a:prstGeom>
          <a:solidFill>
            <a:srgbClr val="F3F7F9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7699248" y="15544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混合分布</a:t>
            </a:r>
            <a:endParaRPr lang="en-US" sz="11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3717" y="1892808"/>
            <a:ext cx="2777163" cy="57069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61504" y="2834640"/>
            <a:ext cx="4096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1"/>
          <p:cNvSpPr/>
          <p:nvPr/>
        </p:nvSpPr>
        <p:spPr>
          <a:xfrm>
            <a:off x="7699248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F5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membership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699248" y="33558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537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 OD 可以同時「有點像」不同群：</a:t>
            </a:r>
            <a:endParaRPr lang="en-US" sz="1070" dirty="0"/>
          </a:p>
        </p:txBody>
      </p:sp>
      <p:sp>
        <p:nvSpPr>
          <p:cNvPr id="17" name="Shape 13"/>
          <p:cNvSpPr/>
          <p:nvPr/>
        </p:nvSpPr>
        <p:spPr>
          <a:xfrm>
            <a:off x="7699248" y="3685032"/>
            <a:ext cx="841248" cy="310896"/>
          </a:xfrm>
          <a:prstGeom prst="roundRect">
            <a:avLst/>
          </a:prstGeom>
          <a:solidFill>
            <a:srgbClr val="087F82">
              <a:alpha val="12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/>
          <p:nvPr/>
        </p:nvSpPr>
        <p:spPr>
          <a:xfrm>
            <a:off x="7754112" y="37564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7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 65%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659368" y="3685032"/>
            <a:ext cx="841248" cy="310896"/>
          </a:xfrm>
          <a:prstGeom prst="roundRect">
            <a:avLst/>
          </a:prstGeom>
          <a:solidFill>
            <a:srgbClr val="17304B">
              <a:alpha val="12000"/>
            </a:srgbClr>
          </a:solidFill>
          <a:ln w="12700">
            <a:solidFill>
              <a:srgbClr val="17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8714232" y="37564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 30%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619488" y="3685032"/>
            <a:ext cx="768096" cy="310896"/>
          </a:xfrm>
          <a:prstGeom prst="roundRect">
            <a:avLst/>
          </a:prstGeom>
          <a:solidFill>
            <a:srgbClr val="AF5448">
              <a:alpha val="12000"/>
            </a:srgbClr>
          </a:solidFill>
          <a:ln w="12700">
            <a:solidFill>
              <a:srgbClr val="AF54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9674352" y="37564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F54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5%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461504" y="4443984"/>
            <a:ext cx="4096512" cy="1499616"/>
          </a:xfrm>
          <a:prstGeom prst="roundRect">
            <a:avLst>
              <a:gd name="adj" fmla="val 4878"/>
            </a:avLst>
          </a:prstGeom>
          <a:solidFill>
            <a:srgbClr val="EFF6F7"/>
          </a:solidFill>
          <a:ln w="12700">
            <a:solidFill>
              <a:srgbClr val="D8ED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0"/>
          <p:cNvSpPr/>
          <p:nvPr/>
        </p:nvSpPr>
        <p:spPr>
          <a:xfrm>
            <a:off x="7699248" y="4645152"/>
            <a:ext cx="1353312" cy="310896"/>
          </a:xfrm>
          <a:prstGeom prst="roundRect">
            <a:avLst/>
          </a:prstGeom>
          <a:solidFill>
            <a:srgbClr val="AF5448">
              <a:alpha val="12000"/>
            </a:srgbClr>
          </a:solidFill>
          <a:ln w="12700">
            <a:solidFill>
              <a:srgbClr val="AF54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7754112" y="469914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F54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橢圓代表什麼？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7699248" y="504748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D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橢圓只是 2D Gaussian 的等密度輪廓，不是硬性的群界。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699248" y="5422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9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真正的特色是：群與群之間可以存在連續、模糊的過渡。</a:t>
            </a:r>
            <a:endParaRPr lang="en-US" sz="1050"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A2AACA72-6C39-6E78-93EB-483D1E0AF57F}"/>
              </a:ext>
            </a:extLst>
          </p:cNvPr>
          <p:cNvSpPr txBox="1"/>
          <p:nvPr/>
        </p:nvSpPr>
        <p:spPr>
          <a:xfrm>
            <a:off x="8339327" y="6592824"/>
            <a:ext cx="3383280" cy="136961"/>
          </a:xfrm>
          <a:prstGeom prst="rect">
            <a:avLst/>
          </a:prstGeom>
          <a:noFill/>
        </p:spPr>
        <p:txBody>
          <a:bodyPr wrap="square" lIns="18288" tIns="13716" rIns="18288" bIns="0">
            <a:spAutoFit/>
          </a:bodyPr>
          <a:lstStyle/>
          <a:p>
            <a:pPr algn="r">
              <a:defRPr sz="800" b="0">
                <a:solidFill>
                  <a:srgbClr val="667D91"/>
                </a:solidFill>
                <a:latin typeface="Microsoft JhengHei"/>
              </a:defRPr>
            </a:pPr>
            <a:r>
              <a:rPr dirty="0" err="1"/>
              <a:t>統計實務｜國三大溪－龍潭北向</a:t>
            </a:r>
            <a:r>
              <a:rPr dirty="0"/>
              <a:t>    </a:t>
            </a:r>
            <a:r>
              <a:rPr lang="en-US" altLang="zh-TW" dirty="0"/>
              <a:t>22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87F82"/>
          </a:solidFill>
          <a:ln w="12700">
            <a:solidFill>
              <a:srgbClr val="087F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58440" y="6858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7FD0D1"/>
                </a:solidFill>
                <a:effectLst/>
                <a:uFillTx/>
                <a:latin typeface="Microsoft JhengHei"/>
                <a:ea typeface="Microsoft JhengHei"/>
              </a:rPr>
              <a:t>第五章｜預測方法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89755" y="1397510"/>
            <a:ext cx="73148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XGBoost </a:t>
            </a:r>
            <a:r>
              <a:rPr lang="zh-CN" sz="34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LightGBM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040287" y="1013724"/>
            <a:ext cx="3445626" cy="4631825"/>
          </a:xfrm>
          <a:prstGeom prst="roundRect">
            <a:avLst>
              <a:gd name="adj" fmla="val 2410"/>
            </a:avLst>
          </a:prstGeom>
          <a:solidFill>
            <a:srgbClr val="19374E"/>
          </a:solidFill>
          <a:ln w="12700">
            <a:solidFill>
              <a:srgbClr val="2E556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341966" y="1405753"/>
            <a:ext cx="2863865" cy="2731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 dirty="0">
                <a:solidFill>
                  <a:srgbClr val="7FD0D1"/>
                </a:solidFill>
                <a:effectLst/>
                <a:uFillTx/>
                <a:latin typeface="Microsoft JhengHei"/>
                <a:ea typeface="Microsoft JhengHei"/>
              </a:rPr>
              <a:t>本段故事線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360327" y="1917674"/>
            <a:ext cx="431920" cy="20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FD0D1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817526" y="1862953"/>
            <a:ext cx="1350655" cy="252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GBDT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817526" y="2137273"/>
            <a:ext cx="2161303" cy="2224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BDD0DB"/>
                </a:solidFill>
                <a:effectLst/>
                <a:uFillTx/>
                <a:latin typeface="Microsoft JhengHei"/>
                <a:ea typeface="Microsoft JhengHei"/>
              </a:rPr>
              <a:t>共同基礎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360327" y="2667554"/>
            <a:ext cx="431920" cy="20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FD0D1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817526" y="2612833"/>
            <a:ext cx="1350655" cy="252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XGBoost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817526" y="2887153"/>
            <a:ext cx="2161303" cy="2224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BDD0DB"/>
                </a:solidFill>
                <a:effectLst/>
                <a:uFillTx/>
                <a:latin typeface="Microsoft JhengHei"/>
                <a:ea typeface="Microsoft JhengHei"/>
              </a:rPr>
              <a:t>正則化與二階資訊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360327" y="3417434"/>
            <a:ext cx="431920" cy="20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FD0D1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817526" y="3362353"/>
            <a:ext cx="1350655" cy="252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LightGBM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817526" y="3636673"/>
            <a:ext cx="2161303" cy="2224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DD0DB"/>
                </a:solidFill>
                <a:effectLst/>
                <a:uFillTx/>
                <a:latin typeface="Microsoft JhengHei"/>
                <a:ea typeface="Microsoft JhengHei"/>
              </a:rPr>
              <a:t>Histogram </a:t>
            </a:r>
            <a:r>
              <a:rPr lang="zh-CN" sz="1400" b="0" u="none" strike="noStrike">
                <a:solidFill>
                  <a:srgbClr val="BDD0DB"/>
                </a:solidFill>
                <a:effectLst/>
                <a:uFillTx/>
                <a:latin typeface="Microsoft JhengHei"/>
                <a:ea typeface="Microsoft JhengHei"/>
              </a:rPr>
              <a:t>與 </a:t>
            </a:r>
            <a:r>
              <a:rPr lang="en-US" sz="1400" b="0" u="none" strike="noStrike">
                <a:solidFill>
                  <a:srgbClr val="BDD0DB"/>
                </a:solidFill>
                <a:effectLst/>
                <a:uFillTx/>
                <a:latin typeface="Microsoft JhengHei"/>
                <a:ea typeface="Microsoft JhengHei"/>
              </a:rPr>
              <a:t>Leaf-wise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360327" y="4167314"/>
            <a:ext cx="431920" cy="20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FD0D1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7817526" y="4112233"/>
            <a:ext cx="1350655" cy="252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比較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7817526" y="4386553"/>
            <a:ext cx="2161303" cy="2224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BDD0DB"/>
                </a:solidFill>
                <a:effectLst/>
                <a:uFillTx/>
                <a:latin typeface="Microsoft JhengHei"/>
                <a:ea typeface="Microsoft JhengHei"/>
              </a:rPr>
              <a:t>為何兩者都納入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0927080" y="628200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91A7B4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altLang="zh-TW" sz="900" b="0" u="none" strike="noStrike" dirty="0">
                <a:solidFill>
                  <a:srgbClr val="91A7B4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2DBD6D-FEA9-4DD7-A4C7-22BFB03C05D6}"/>
              </a:ext>
            </a:extLst>
          </p:cNvPr>
          <p:cNvSpPr>
            <a:spLocks noGrp="1"/>
          </p:cNvSpPr>
          <p:nvPr/>
        </p:nvSpPr>
        <p:spPr>
          <a:xfrm>
            <a:off x="640915" y="229148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 dirty="0" err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rPr>
              <a:t>XGBoost</a:t>
            </a:r>
            <a:r>
              <a:rPr sz="3150" b="1" dirty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rPr>
              <a:t> 與 </a:t>
            </a:r>
            <a:r>
              <a:rPr sz="3150" b="1" dirty="0" err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rPr>
              <a:t>LightGBM</a:t>
            </a:r>
            <a:endParaRPr sz="3150" b="1" dirty="0">
              <a:solidFill>
                <a:srgbClr val="142C4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F1169A-2BB0-4336-A014-7DF4502CB9CE}"/>
              </a:ext>
            </a:extLst>
          </p:cNvPr>
          <p:cNvSpPr>
            <a:spLocks noGrp="1"/>
          </p:cNvSpPr>
          <p:nvPr/>
        </p:nvSpPr>
        <p:spPr>
          <a:xfrm>
            <a:off x="679015" y="3834530"/>
            <a:ext cx="1066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3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sz="3300"/>
              <a:t>模型原理</a:t>
            </a:r>
            <a:r>
              <a:rPr lang="zh-TW" altLang="en-US" sz="3300"/>
              <a:t>與</a:t>
            </a:r>
            <a:r>
              <a:rPr lang="zh-TW" sz="3400"/>
              <a:t>使用契機</a:t>
            </a:r>
            <a:endParaRPr lang="zh-TW" sz="3350" b="1">
              <a:solidFill>
                <a:srgbClr val="087F8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EEBA34C3-FA34-6C7D-EF7B-0A436C99B8C6}"/>
              </a:ext>
            </a:extLst>
          </p:cNvPr>
          <p:cNvSpPr/>
          <p:nvPr/>
        </p:nvSpPr>
        <p:spPr>
          <a:xfrm>
            <a:off x="7360326" y="4887560"/>
            <a:ext cx="431920" cy="20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b="1">
                <a:solidFill>
                  <a:srgbClr val="7FD0D1"/>
                </a:solidFill>
                <a:latin typeface="Arial"/>
              </a:rPr>
              <a:t>05</a:t>
            </a:r>
            <a:endParaRPr lang="en-US" sz="1400" b="1">
              <a:solidFill>
                <a:srgbClr val="7FD0D1"/>
              </a:solidFill>
              <a:latin typeface="Arial"/>
              <a:cs typeface="Arial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4365EE4C-BFB9-A376-C973-1CEAED87CFAF}"/>
              </a:ext>
            </a:extLst>
          </p:cNvPr>
          <p:cNvSpPr/>
          <p:nvPr/>
        </p:nvSpPr>
        <p:spPr>
          <a:xfrm>
            <a:off x="7817525" y="4832479"/>
            <a:ext cx="1350655" cy="252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>
                <a:solidFill>
                  <a:srgbClr val="FFFFFF"/>
                </a:solidFill>
                <a:latin typeface="Arial"/>
                <a:cs typeface="Arial"/>
              </a:rPr>
              <a:t>選用原因</a:t>
            </a:r>
            <a:endParaRPr lang="zh-CN" altLang="en-US" sz="1400" b="1" u="none" strike="noStrike" dirty="0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5915B0C3-E90D-8114-A607-ED79B7A4C0A6}"/>
              </a:ext>
            </a:extLst>
          </p:cNvPr>
          <p:cNvSpPr/>
          <p:nvPr/>
        </p:nvSpPr>
        <p:spPr>
          <a:xfrm>
            <a:off x="7817525" y="5106799"/>
            <a:ext cx="2161303" cy="2224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>
                <a:solidFill>
                  <a:srgbClr val="BDD0DB"/>
                </a:solidFill>
                <a:latin typeface="Microsoft JhengHei"/>
                <a:ea typeface="Microsoft JhengHei"/>
              </a:rPr>
              <a:t>使用模型的理由</a:t>
            </a:r>
            <a:endParaRPr lang="zh-CN" altLang="en-US" sz="1400" b="0" u="none" strike="noStrike" dirty="0">
              <a:solidFill>
                <a:srgbClr val="BDD0DB"/>
              </a:solidFill>
              <a:effectLst/>
              <a:uFillTx/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548640" y="1380744"/>
            <a:ext cx="64008" cy="42976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153912"/>
            <a:ext cx="11064240" cy="16459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225296"/>
            <a:ext cx="11064240" cy="20116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08ED25-89C2-42E4-8EE8-8193CA83AA6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共同基礎：梯度提升決策樹</a:t>
            </a:r>
            <a:r>
              <a:rPr lang="en-US">
                <a:solidFill/>
                <a:latin typeface="Microsoft JhengHei"/>
              </a:rPr>
              <a:t>(</a:t>
            </a:r>
            <a:r>
              <a:rPr lang="af-ZA">
                <a:solidFill/>
                <a:latin typeface="Microsoft JhengHei"/>
              </a:rPr>
              <a:t>GBDT)</a:t>
            </a:r>
            <a:endParaRPr lang="zh-TW" altLang="en-US" sz="3150" b="1">
              <a:solidFill>
                <a:srgbClr val="142C4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DBBCA2-78A0-4C39-8B05-9F51BABCB0A9}"/>
              </a:ext>
            </a:extLst>
          </p:cNvPr>
          <p:cNvSpPr>
            <a:spLocks noGrp="1"/>
          </p:cNvSpPr>
          <p:nvPr/>
        </p:nvSpPr>
        <p:spPr>
          <a:xfrm>
            <a:off x="10953750" y="63436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dirty="0">
                <a:latin typeface="Microsoft JhengHei"/>
              </a:rPr>
              <a:t>24</a:t>
            </a:r>
            <a:endParaRPr sz="1275" b="0" dirty="0">
              <a:solidFill>
                <a:srgbClr val="526579"/>
              </a:solidFill>
              <a:latin typeface="Microsoft JhengHei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5B7E98-FC6B-4F46-8271-86527E339723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09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來源：Chen &amp; Guestrin (2016)，§2</a:t>
            </a:r>
            <a:r>
              <a:rPr lang="zh-TW" dirty="0">
                <a:solidFill/>
                <a:latin typeface="Microsoft JhengHei"/>
              </a:rPr>
              <a:t>                            </a:t>
            </a:r>
            <a:r>
              <a:rPr lang="zh-TW" altLang="en-US">
                <a:solidFill/>
                <a:latin typeface="Microsoft JhengHei"/>
              </a:rPr>
              <a:t>圖片來源:https://www.processon.com/view/616bbfa963768921fa265458</a:t>
            </a:r>
            <a:endParaRPr sz="1200" b="0">
              <a:solidFill>
                <a:srgbClr val="526579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F8EA4A-F191-4983-B228-C5C0DA6D97C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57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550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逐輪加入新樹，降低目前模型的損失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F9BFCE-ED4C-418A-8A9C-ACB0B7516EF4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1076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3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0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Fₘ(x) = Fₘ₋₁(x) + η fₘ(x)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884868-0B9F-4B87-B171-08C4A9DBE643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92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00" b="0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p(x) = 1 / [1 + exp(−Fₘ(x</a:t>
            </a:r>
            <a:r>
              <a:rPr lang="en-US" sz="2900">
                <a:solidFill/>
                <a:latin typeface="Microsoft JhengHei"/>
              </a:rPr>
              <a:t>))]</a:t>
            </a:r>
            <a:endParaRPr sz="2925" b="0">
              <a:solidFill>
                <a:srgbClr val="142C4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422C01-8699-4962-B22D-2AB45530C311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1057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sz="2150">
                <a:solidFill>
                  <a:srgbClr val="142D42"/>
                </a:solidFill>
                <a:latin typeface="Microsoft JhengHei"/>
              </a:rPr>
              <a:t>利用樹的葉節點輸出分數</a:t>
            </a:r>
            <a:r>
              <a:rPr sz="2150" b="0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，</a:t>
            </a:r>
            <a:r>
              <a:rPr lang="zh-TW" sz="2150">
                <a:solidFill/>
                <a:latin typeface="Microsoft JhengHei"/>
              </a:rPr>
              <a:t>各棵樹累加分數後</a:t>
            </a:r>
            <a:r>
              <a:rPr lang="zh-TW" altLang="en-US" sz="2150">
                <a:solidFill/>
                <a:latin typeface="Microsoft JhengHei"/>
              </a:rPr>
              <a:t>轉換</a:t>
            </a:r>
            <a:r>
              <a:rPr lang="zh-TW" sz="2150">
                <a:solidFill/>
                <a:latin typeface="Microsoft JhengHei"/>
              </a:rPr>
              <a:t>得到壅塞機率</a:t>
            </a:r>
            <a:endParaRPr sz="2175" b="0">
              <a:solidFill>
                <a:srgbClr val="142C4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07A09A-3757-448A-8105-310166D7038A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95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新樹利用損失的梯度資訊學習修正方向，η 控制每次修正幅度</a:t>
            </a:r>
          </a:p>
        </p:txBody>
      </p:sp>
      <p:pic>
        <p:nvPicPr>
          <p:cNvPr id="10" name="圖片 9" descr="一張含有 螢幕擷取畫面, 文字, 圖表, 圓形 的圖片&#10;&#10;AI 產生的內容可能不正確。">
            <a:extLst>
              <a:ext uri="{FF2B5EF4-FFF2-40B4-BE49-F238E27FC236}">
                <a16:creationId xmlns:a16="http://schemas.microsoft.com/office/drawing/2014/main" id="{657605AC-DF75-0FE0-DB88-AC5F86079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0" t="2463" r="3662" b="30769"/>
          <a:stretch>
            <a:fillRect/>
          </a:stretch>
        </p:blipFill>
        <p:spPr>
          <a:xfrm>
            <a:off x="6298406" y="1714104"/>
            <a:ext cx="5208193" cy="231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81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548640" y="1380744"/>
            <a:ext cx="64008" cy="42976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153912"/>
            <a:ext cx="11064240" cy="16459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225296"/>
            <a:ext cx="11064240" cy="20116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8CC4ED-B28A-4220-BA47-3BAABDC648A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XGBoost：正則化的提升樹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A24A8A-BAFF-4541-BF50-A026BA8E6FFC}"/>
              </a:ext>
            </a:extLst>
          </p:cNvPr>
          <p:cNvSpPr>
            <a:spLocks noGrp="1"/>
          </p:cNvSpPr>
          <p:nvPr/>
        </p:nvSpPr>
        <p:spPr>
          <a:xfrm>
            <a:off x="10953750" y="63436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dirty="0">
                <a:latin typeface="Microsoft JhengHei"/>
              </a:rPr>
              <a:t>25</a:t>
            </a:r>
            <a:endParaRPr sz="1275" b="0" dirty="0">
              <a:solidFill>
                <a:srgbClr val="526579"/>
              </a:solidFill>
              <a:latin typeface="Microsoft JhengHei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D6D326-1C5C-48F1-B7DA-27F3AA79F6C2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09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來源：Chen &amp; Guestrin (2016)，§2–4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FBC81D-2305-450C-B4C7-A968F8CEF9F1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62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目標函數 = 預測損失 + 樹的複雜度懲罰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5804BC-551F-41CA-8A07-DFA6324483E6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76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0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Ω(f) = γT + ½λ Σⱼ wⱼ²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C7BEAD-B2D2-42F7-8582-C20D1206E2BD}"/>
              </a:ext>
            </a:extLst>
          </p:cNvPr>
          <p:cNvSpPr>
            <a:spLocks noGrp="1"/>
          </p:cNvSpPr>
          <p:nvPr/>
        </p:nvSpPr>
        <p:spPr>
          <a:xfrm>
            <a:off x="685800" y="3083719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150">
                <a:solidFill>
                  <a:srgbClr val="087F82"/>
                </a:solidFill>
                <a:latin typeface="Microsoft JhengHei"/>
              </a:rPr>
              <a:t>Depth-wise</a:t>
            </a:r>
          </a:p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150">
                <a:solidFill>
                  <a:srgbClr val="087F82"/>
                </a:solidFill>
                <a:latin typeface="Microsoft JhengHei"/>
              </a:rPr>
              <a:t>(or lossguide)</a:t>
            </a:r>
            <a:endParaRPr lang="zh-TW" altLang="en-US" sz="2150" dirty="0">
              <a:solidFill>
                <a:srgbClr val="087F82"/>
              </a:solidFill>
              <a:latin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65930A-1211-4F19-B145-98D9CA9A145B}"/>
              </a:ext>
            </a:extLst>
          </p:cNvPr>
          <p:cNvSpPr>
            <a:spLocks noGrp="1"/>
          </p:cNvSpPr>
          <p:nvPr/>
        </p:nvSpPr>
        <p:spPr>
          <a:xfrm>
            <a:off x="3631406" y="3083719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>
                <a:solidFill>
                  <a:srgbClr val="142D42"/>
                </a:solidFill>
                <a:latin typeface="Microsoft JhengHei"/>
              </a:rPr>
              <a:t>優先分裂較淺的葉節點，逐層向下生長，樹形通常較均衡。</a:t>
            </a:r>
            <a:endParaRPr>
              <a:solidFill>
                <a:srgbClr val="142D42"/>
              </a:solidFill>
              <a:latin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F65B5C-4100-4D9A-9582-A2DDCF405FCE}"/>
              </a:ext>
            </a:extLst>
          </p:cNvPr>
          <p:cNvSpPr>
            <a:spLocks noGrp="1"/>
          </p:cNvSpPr>
          <p:nvPr/>
        </p:nvSpPr>
        <p:spPr>
          <a:xfrm>
            <a:off x="685800" y="4298156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複雜度控制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47EC072-F303-D10E-A7C6-3EE66D7474D7}"/>
              </a:ext>
            </a:extLst>
          </p:cNvPr>
          <p:cNvGraphicFramePr>
            <a:graphicFrameLocks noGrp="1"/>
          </p:cNvGraphicFramePr>
          <p:nvPr/>
        </p:nvGraphicFramePr>
        <p:xfrm>
          <a:off x="3631406" y="3798093"/>
          <a:ext cx="8165772" cy="23589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29031">
                  <a:extLst>
                    <a:ext uri="{9D8B030D-6E8A-4147-A177-3AD203B41FA5}">
                      <a16:colId xmlns:a16="http://schemas.microsoft.com/office/drawing/2014/main" val="2201556746"/>
                    </a:ext>
                  </a:extLst>
                </a:gridCol>
                <a:gridCol w="5636741">
                  <a:extLst>
                    <a:ext uri="{9D8B030D-6E8A-4147-A177-3AD203B41FA5}">
                      <a16:colId xmlns:a16="http://schemas.microsoft.com/office/drawing/2014/main" val="757946469"/>
                    </a:ext>
                  </a:extLst>
                </a:gridCol>
              </a:tblGrid>
              <a:tr h="39315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Noto Sans CJK TC"/>
                        </a:rPr>
                        <a:t>符號</a:t>
                      </a:r>
                      <a:r>
                        <a:rPr lang="en-US" sz="1900" b="1" i="0" u="none" strike="noStrike" noProof="0">
                          <a:solidFill>
                            <a:srgbClr val="FFFFFF"/>
                          </a:solidFill>
                          <a:effectLst/>
                        </a:rPr>
                        <a:t>／</a:t>
                      </a:r>
                      <a:r>
                        <a:rPr lang="zh-TW" altLang="en-US" sz="1900" b="1" i="0" u="none" strike="noStrike" noProof="0">
                          <a:solidFill>
                            <a:srgbClr val="FFFFFF"/>
                          </a:solidFill>
                          <a:effectLst/>
                        </a:rPr>
                        <a:t>參數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Noto Sans CJK TC"/>
                        </a:rPr>
                        <a:t>正確定義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917171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Ω(f)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單棵樹 f 的正則化懲罰值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477269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這棵樹實際的葉節點數，並非樹的總棵數或深度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810232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wⱼ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第 j 個葉節點的輸出分數，並非直接的壅塞機率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70456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γ：gamma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每增加一個葉節點所增加的懲罰代價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751525"/>
                  </a:ext>
                </a:extLst>
              </a:tr>
              <a:tr h="39315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λ：lambda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控制葉節點輸出分數平方的 L2 懲罰強度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825789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50CB4E8-984B-C0B2-DD9C-5A9071A195ED}"/>
              </a:ext>
            </a:extLst>
          </p:cNvPr>
          <p:cNvSpPr>
            <a:spLocks noGrp="1"/>
          </p:cNvSpPr>
          <p:nvPr/>
        </p:nvSpPr>
        <p:spPr>
          <a:xfrm>
            <a:off x="57150" y="6097229"/>
            <a:ext cx="1089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 algn="r"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dirty="0" err="1"/>
              <a:t>γ、λ</a:t>
            </a:r>
            <a:r>
              <a:rPr lang="en-US" altLang="zh-TW" dirty="0"/>
              <a:t> </a:t>
            </a:r>
            <a:r>
              <a:rPr lang="zh-TW" altLang="en-US" dirty="0"/>
              <a:t>為事先設定的超參數</a:t>
            </a:r>
            <a:r>
              <a:rPr lang="en-US" dirty="0"/>
              <a:t>；</a:t>
            </a:r>
            <a:r>
              <a:rPr lang="en-US" dirty="0" err="1"/>
              <a:t>T、w</a:t>
            </a:r>
            <a:r>
              <a:rPr lang="en-US" dirty="0"/>
              <a:t>ⱼ</a:t>
            </a:r>
            <a:r>
              <a:rPr lang="en-US" altLang="zh-TW" dirty="0"/>
              <a:t> </a:t>
            </a:r>
            <a:r>
              <a:rPr lang="zh-TW" altLang="en-US" dirty="0"/>
              <a:t>由訓練過程決定</a:t>
            </a:r>
            <a:endParaRPr lang="en-US" altLang="zh-TW" dirty="0"/>
          </a:p>
          <a:p>
            <a: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pPr>
            <a:endParaRPr sz="1500" b="0" dirty="0">
              <a:solidFill>
                <a:srgbClr val="64748B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1107654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85B8-6BB2-C78A-D49F-2D2F83871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B308633-E6C6-6A68-284F-C2DD08ECB33A}"/>
              </a:ext>
            </a:extLst>
          </p:cNvPr>
          <p:cNvSpPr/>
          <p:nvPr/>
        </p:nvSpPr>
        <p:spPr>
          <a:xfrm>
            <a:off x="548640" y="1380744"/>
            <a:ext cx="64008" cy="42976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81E10A-4149-4483-F9BD-5731957532FB}"/>
              </a:ext>
            </a:extLst>
          </p:cNvPr>
          <p:cNvSpPr/>
          <p:nvPr/>
        </p:nvSpPr>
        <p:spPr>
          <a:xfrm>
            <a:off x="548640" y="6153912"/>
            <a:ext cx="11064240" cy="16459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D0E591-E0FF-69B7-0F59-47D0ED2F4747}"/>
              </a:ext>
            </a:extLst>
          </p:cNvPr>
          <p:cNvSpPr/>
          <p:nvPr/>
        </p:nvSpPr>
        <p:spPr>
          <a:xfrm>
            <a:off x="548640" y="1225296"/>
            <a:ext cx="11064240" cy="20116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22005-BACE-4E19-AFE5-C44E8942FFAF}"/>
              </a:ext>
            </a:extLst>
          </p:cNvPr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B081A-D432-296D-4FD7-56F1616D78D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dirty="0">
                <a:solidFill>
                  <a:srgbClr val="142D42"/>
                </a:solidFill>
                <a:latin typeface="Microsoft JhengHei"/>
              </a:rPr>
              <a:t>LightGBM</a:t>
            </a:r>
            <a:r>
              <a:rPr lang="en-US" altLang="zh-TW">
                <a:solidFill>
                  <a:srgbClr val="142D42"/>
                </a:solidFill>
                <a:latin typeface="Microsoft JhengHei"/>
              </a:rPr>
              <a:t> :樹生長策略不同的新方法</a:t>
            </a:r>
            <a:endParaRPr lang="zh-TW" altLang="en-US">
              <a:solidFill>
                <a:srgbClr val="142D42"/>
              </a:solidFill>
              <a:latin typeface="Microsoft JhengHei"/>
            </a:endParaRPr>
          </a:p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endParaRPr sz="3150" b="1" dirty="0">
              <a:solidFill>
                <a:srgbClr val="142D42"/>
              </a:solidFill>
              <a:latin typeface="Microsoft JhengHei"/>
              <a:ea typeface="Noto Sans CJK TC"/>
              <a:cs typeface="Noto Sans CJK T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35352C-21D6-C737-A4AB-8650D4399B67}"/>
              </a:ext>
            </a:extLst>
          </p:cNvPr>
          <p:cNvSpPr>
            <a:spLocks noGrp="1"/>
          </p:cNvSpPr>
          <p:nvPr/>
        </p:nvSpPr>
        <p:spPr>
          <a:xfrm>
            <a:off x="10953750" y="63436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dirty="0">
                <a:latin typeface="Microsoft JhengHei"/>
              </a:rPr>
              <a:t>26</a:t>
            </a:r>
            <a:endParaRPr sz="1275" b="0" dirty="0">
              <a:solidFill>
                <a:srgbClr val="526579"/>
              </a:solidFill>
              <a:latin typeface="Microsoft JhengHei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BEA932-E071-1C89-C359-0F86558BB203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09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來源：Chen &amp; Guestrin (2016)，§2–4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18EC74-5F98-BCC7-913A-AA043273EEBA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6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62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目標函數 = 預測損失 + 樹的複雜度懲罰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E21B86-3B2B-C26F-8251-E5E68430BD98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763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>
                <a:solidFill>
                  <a:srgbClr val="142D42"/>
                </a:solidFill>
                <a:latin typeface="Microsoft JhengHei"/>
              </a:rPr>
              <a:t>Ω(f) = λ</a:t>
            </a:r>
            <a:r>
              <a:rPr lang="en-US" altLang="zh-TW">
                <a:solidFill>
                  <a:srgbClr val="142D42"/>
                </a:solidFill>
                <a:latin typeface="Microsoft JhengHei"/>
              </a:rPr>
              <a:t>₁ </a:t>
            </a:r>
            <a:r>
              <a:rPr lang="en-US">
                <a:solidFill>
                  <a:srgbClr val="142D42"/>
                </a:solidFill>
                <a:latin typeface="Microsoft JhengHei"/>
              </a:rPr>
              <a:t>Σⱼ</a:t>
            </a:r>
            <a:r>
              <a:rPr lang="en-US" altLang="zh-TW">
                <a:solidFill>
                  <a:srgbClr val="142D42"/>
                </a:solidFill>
                <a:latin typeface="Microsoft JhengHei"/>
              </a:rPr>
              <a:t>₌₁</a:t>
            </a:r>
            <a:r>
              <a:rPr lang="en-US">
                <a:solidFill>
                  <a:srgbClr val="142D42"/>
                </a:solidFill>
                <a:latin typeface="Microsoft JhengHei"/>
              </a:rPr>
              <a:t>ᵀ</a:t>
            </a:r>
            <a:r>
              <a:rPr lang="en-US" altLang="zh-TW" dirty="0">
                <a:solidFill>
                  <a:srgbClr val="142D42"/>
                </a:solidFill>
                <a:latin typeface="Microsoft JhengHei"/>
              </a:rPr>
              <a:t> </a:t>
            </a:r>
            <a:r>
              <a:rPr lang="en-US">
                <a:solidFill>
                  <a:srgbClr val="142D42"/>
                </a:solidFill>
                <a:latin typeface="Microsoft JhengHei"/>
              </a:rPr>
              <a:t>|wⱼ|</a:t>
            </a:r>
            <a:r>
              <a:rPr lang="en-US" altLang="zh-TW" dirty="0">
                <a:solidFill>
                  <a:srgbClr val="142D42"/>
                </a:solidFill>
                <a:latin typeface="Microsoft JhengHei"/>
              </a:rPr>
              <a:t> </a:t>
            </a:r>
            <a:r>
              <a:rPr lang="en-US">
                <a:solidFill>
                  <a:srgbClr val="142D42"/>
                </a:solidFill>
                <a:latin typeface="Microsoft JhengHei"/>
              </a:rPr>
              <a:t>+ ½λ</a:t>
            </a:r>
            <a:r>
              <a:rPr lang="en-US" altLang="zh-TW">
                <a:solidFill>
                  <a:srgbClr val="142D42"/>
                </a:solidFill>
                <a:latin typeface="Microsoft JhengHei"/>
              </a:rPr>
              <a:t>₂</a:t>
            </a:r>
            <a:r>
              <a:rPr lang="en-US">
                <a:solidFill>
                  <a:srgbClr val="142D42"/>
                </a:solidFill>
                <a:latin typeface="Microsoft JhengHei"/>
              </a:rPr>
              <a:t> Σⱼ</a:t>
            </a:r>
            <a:r>
              <a:rPr lang="en-US" altLang="zh-TW">
                <a:solidFill>
                  <a:srgbClr val="142D42"/>
                </a:solidFill>
                <a:latin typeface="Microsoft JhengHei"/>
              </a:rPr>
              <a:t>₌₁</a:t>
            </a:r>
            <a:r>
              <a:rPr lang="en-US">
                <a:solidFill>
                  <a:srgbClr val="142D42"/>
                </a:solidFill>
                <a:latin typeface="Microsoft JhengHei"/>
              </a:rPr>
              <a:t>ᵀ wⱼ²</a:t>
            </a:r>
            <a:endParaRPr lang="en-US" altLang="zh-TW">
              <a:solidFill>
                <a:srgbClr val="142D42"/>
              </a:solidFill>
              <a:latin typeface="Microsoft JhengHei"/>
            </a:endParaRPr>
          </a:p>
          <a:p>
            <a:pPr>
              <a:defRPr sz="31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endParaRPr sz="3150" b="0" dirty="0">
              <a:solidFill>
                <a:srgbClr val="142D42"/>
              </a:solidFill>
              <a:latin typeface="Microsoft JhengHei"/>
              <a:ea typeface="Noto Sans CJK TC"/>
              <a:cs typeface="Noto Sans CJK T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21F2EB-0D02-A819-C812-2717E572E195}"/>
              </a:ext>
            </a:extLst>
          </p:cNvPr>
          <p:cNvSpPr>
            <a:spLocks noGrp="1"/>
          </p:cNvSpPr>
          <p:nvPr/>
        </p:nvSpPr>
        <p:spPr>
          <a:xfrm>
            <a:off x="685800" y="3119438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200">
                <a:solidFill>
                  <a:srgbClr val="087F82"/>
                </a:solidFill>
                <a:latin typeface="Microsoft JhengHei"/>
                <a:ea typeface="Microsoft JhengHei"/>
              </a:rPr>
              <a:t>Leaf-wise</a:t>
            </a:r>
            <a:endParaRPr lang="zh-TW" sz="2200" b="0">
              <a:solidFill>
                <a:srgbClr val="000000"/>
              </a:solidFill>
              <a:latin typeface="Microsoft JhengHei"/>
              <a:ea typeface="Microsoft JhengHei"/>
            </a:endParaRPr>
          </a:p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endParaRPr lang="zh-TW" altLang="en-US" sz="2150" dirty="0">
              <a:solidFill>
                <a:srgbClr val="087F82"/>
              </a:solidFill>
              <a:latin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1CF7EA-763C-3BB4-D745-BD966D3CF7C8}"/>
              </a:ext>
            </a:extLst>
          </p:cNvPr>
          <p:cNvSpPr>
            <a:spLocks noGrp="1"/>
          </p:cNvSpPr>
          <p:nvPr/>
        </p:nvSpPr>
        <p:spPr>
          <a:xfrm>
            <a:off x="3643313" y="3119438"/>
            <a:ext cx="7810499" cy="923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>
                <a:solidFill>
                  <a:srgbClr val="142D42"/>
                </a:solidFill>
                <a:latin typeface="Microsoft JhengHei"/>
                <a:ea typeface="Microsoft JhengHei"/>
              </a:rPr>
              <a:t>每次優先分裂增益最大的葉節點，樹可能不對稱</a:t>
            </a:r>
            <a:endParaRPr lang="zh-TW">
              <a:solidFill>
                <a:srgbClr val="000000"/>
              </a:solidFill>
              <a:latin typeface="Microsoft JhengHei"/>
              <a:ea typeface="Microsoft JhengHei"/>
            </a:endParaRPr>
          </a:p>
          <a:p>
            <a: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endParaRPr lang="zh-TW" altLang="en-US" dirty="0">
              <a:solidFill>
                <a:srgbClr val="142D42"/>
              </a:solidFill>
              <a:latin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D97A3D-367C-E7DC-87A2-001D4356AFFB}"/>
              </a:ext>
            </a:extLst>
          </p:cNvPr>
          <p:cNvSpPr>
            <a:spLocks noGrp="1"/>
          </p:cNvSpPr>
          <p:nvPr/>
        </p:nvSpPr>
        <p:spPr>
          <a:xfrm>
            <a:off x="685800" y="4202906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複雜度控制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F348C07F-B0BA-6269-8B2C-9935F360A925}"/>
              </a:ext>
            </a:extLst>
          </p:cNvPr>
          <p:cNvGraphicFramePr>
            <a:graphicFrameLocks noGrp="1"/>
          </p:cNvGraphicFramePr>
          <p:nvPr/>
        </p:nvGraphicFramePr>
        <p:xfrm>
          <a:off x="3607593" y="3917156"/>
          <a:ext cx="8143207" cy="20509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91365">
                  <a:extLst>
                    <a:ext uri="{9D8B030D-6E8A-4147-A177-3AD203B41FA5}">
                      <a16:colId xmlns:a16="http://schemas.microsoft.com/office/drawing/2014/main" val="2780696211"/>
                    </a:ext>
                  </a:extLst>
                </a:gridCol>
                <a:gridCol w="5651842">
                  <a:extLst>
                    <a:ext uri="{9D8B030D-6E8A-4147-A177-3AD203B41FA5}">
                      <a16:colId xmlns:a16="http://schemas.microsoft.com/office/drawing/2014/main" val="1879260964"/>
                    </a:ext>
                  </a:extLst>
                </a:gridCol>
              </a:tblGrid>
              <a:tr h="557212">
                <a:tc>
                  <a:txBody>
                    <a:bodyPr/>
                    <a:lstStyle/>
                    <a:p>
                      <a:pPr marL="0" marR="0" rtl="0" fontAlgn="base">
                        <a:buNone/>
                      </a:pPr>
                      <a:r>
                        <a:rPr lang="en-US" sz="1850" b="1">
                          <a:solidFill>
                            <a:srgbClr val="FFFFFF"/>
                          </a:solidFill>
                          <a:effectLst/>
                          <a:latin typeface="Noto Sans CJK TC"/>
                        </a:rPr>
                        <a:t>符號／</a:t>
                      </a:r>
                      <a:r>
                        <a:rPr lang="zh-TW" altLang="en-US" sz="1850" b="1">
                          <a:solidFill>
                            <a:srgbClr val="FFFFFF"/>
                          </a:solidFill>
                          <a:effectLst/>
                          <a:latin typeface="Noto Sans CJK TC"/>
                        </a:rPr>
                        <a:t>參數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707" marR="92707" marT="46349" marB="46349"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buNone/>
                      </a:pPr>
                      <a:r>
                        <a:rPr lang="en-US" sz="1850" b="1">
                          <a:solidFill>
                            <a:srgbClr val="FFFFFF"/>
                          </a:solidFill>
                          <a:effectLst/>
                          <a:latin typeface="Noto Sans CJK TC"/>
                        </a:rPr>
                        <a:t>意義與作用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707" marR="92707" marT="46349" marB="46349"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70358"/>
                  </a:ext>
                </a:extLst>
              </a:tr>
              <a:tr h="497910">
                <a:tc>
                  <a:txBody>
                    <a:bodyPr/>
                    <a:lstStyle/>
                    <a:p>
                      <a:pPr marL="0" marR="0" rtl="0" fontAlgn="base">
                        <a:buNone/>
                      </a:pPr>
                      <a:r>
                        <a:rPr lang="en-US" sz="185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wⱼ、T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707" marR="92707" marT="46349" marB="46349"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buNone/>
                      </a:pPr>
                      <a:r>
                        <a:rPr lang="en-US" sz="185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第 j 個葉節點的輸出分數、這棵樹的葉節點數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707" marR="92707" marT="46349" marB="46349"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566142"/>
                  </a:ext>
                </a:extLst>
              </a:tr>
              <a:tr h="497910">
                <a:tc>
                  <a:txBody>
                    <a:bodyPr/>
                    <a:lstStyle/>
                    <a:p>
                      <a:pPr marL="0" marR="0" rtl="0" fontAlgn="base">
                        <a:buNone/>
                      </a:pPr>
                      <a:r>
                        <a:rPr lang="en-US" sz="185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λ₁：lambda_l1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707" marR="92707" marT="46349" marB="46349"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buNone/>
                      </a:pPr>
                      <a:r>
                        <a:rPr lang="en-US" sz="185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L1 懲罰輸出分數的絕對值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707" marR="92707" marT="46349" marB="46349"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692150"/>
                  </a:ext>
                </a:extLst>
              </a:tr>
              <a:tr h="497910">
                <a:tc>
                  <a:txBody>
                    <a:bodyPr/>
                    <a:lstStyle/>
                    <a:p>
                      <a:pPr marL="0" marR="0" rtl="0" fontAlgn="base">
                        <a:buNone/>
                      </a:pPr>
                      <a:r>
                        <a:rPr lang="en-US" sz="185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λ₂：lambda_l2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707" marR="92707" marT="46349" marB="46349"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buNone/>
                      </a:pPr>
                      <a:r>
                        <a:rPr lang="en-US" sz="1850">
                          <a:solidFill>
                            <a:srgbClr val="16324B"/>
                          </a:solidFill>
                          <a:effectLst/>
                          <a:latin typeface="Noto Sans CJK TC"/>
                        </a:rPr>
                        <a:t>L2 懲罰輸出分數的平方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2707" marR="92707" marT="46349" marB="46349">
                    <a:lnL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49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738674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C3E1EFC8-75C8-71D6-A280-31DAE64097A2}"/>
              </a:ext>
            </a:extLst>
          </p:cNvPr>
          <p:cNvSpPr>
            <a:spLocks noGrp="1"/>
          </p:cNvSpPr>
          <p:nvPr/>
        </p:nvSpPr>
        <p:spPr>
          <a:xfrm>
            <a:off x="850107" y="5962650"/>
            <a:ext cx="1089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 algn="r">
              <a:def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懲罰係數與生長上限均為超參數，可在驗證資料上挑選</a:t>
            </a:r>
          </a:p>
        </p:txBody>
      </p:sp>
    </p:spTree>
    <p:extLst>
      <p:ext uri="{BB962C8B-B14F-4D97-AF65-F5344CB8AC3E}">
        <p14:creationId xmlns:p14="http://schemas.microsoft.com/office/powerpoint/2010/main" val="3490407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548640" y="1380744"/>
            <a:ext cx="64008" cy="42976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153912"/>
            <a:ext cx="11064240" cy="16459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225296"/>
            <a:ext cx="11064240" cy="20116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B48AA6-604E-4482-8BD8-46BBEAAAB98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樹的生長策略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2916D0-9C3E-46AD-A7B3-381407D5BEDB}"/>
              </a:ext>
            </a:extLst>
          </p:cNvPr>
          <p:cNvSpPr>
            <a:spLocks noGrp="1"/>
          </p:cNvSpPr>
          <p:nvPr/>
        </p:nvSpPr>
        <p:spPr>
          <a:xfrm>
            <a:off x="10953750" y="63436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dirty="0">
                <a:latin typeface="Microsoft JhengHei"/>
              </a:rPr>
              <a:t>27</a:t>
            </a:r>
            <a:endParaRPr sz="1275" b="0" dirty="0">
              <a:solidFill>
                <a:srgbClr val="526579"/>
              </a:solidFill>
              <a:latin typeface="Microsoft JhengHei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8A7B99-5791-4B2E-B4BA-053B8E036542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09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圖：LightGBM 官方 Features；設定差異：兩套件官方文件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A34DC3-0600-4A7B-AB83-372CA590220C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5238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Depth-wise：優先較淺的節點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4D2DE6-146A-446C-8E50-A7B38AF8CA9C}"/>
              </a:ext>
            </a:extLst>
          </p:cNvPr>
          <p:cNvSpPr>
            <a:spLocks noGrp="1"/>
          </p:cNvSpPr>
          <p:nvPr/>
        </p:nvSpPr>
        <p:spPr>
          <a:xfrm>
            <a:off x="6334125" y="1495425"/>
            <a:ext cx="5238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Leaf-wise：優先最大增益的葉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D166040-8AE5-4C26-BC2A-2ADB540DD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391606"/>
            <a:ext cx="5143500" cy="20366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83FC64D-306B-41D3-AD41-D4DAB683B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2517028"/>
            <a:ext cx="5143500" cy="17858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EABC765-CCA7-4FE6-9D73-75080CF3AF9F}"/>
              </a:ext>
            </a:extLst>
          </p:cNvPr>
          <p:cNvSpPr>
            <a:spLocks noGrp="1"/>
          </p:cNvSpPr>
          <p:nvPr/>
        </p:nvSpPr>
        <p:spPr>
          <a:xfrm>
            <a:off x="685800" y="5019675"/>
            <a:ext cx="5238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XGBoost 常用 depthwise，也可選 lossguide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E78DCA-1B48-4EC8-9A81-72FB95A7ADA3}"/>
              </a:ext>
            </a:extLst>
          </p:cNvPr>
          <p:cNvSpPr>
            <a:spLocks noGrp="1"/>
          </p:cNvSpPr>
          <p:nvPr/>
        </p:nvSpPr>
        <p:spPr>
          <a:xfrm>
            <a:off x="6334125" y="5019675"/>
            <a:ext cx="5238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95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LightGBM 採 leaf-wise，須控制葉數與深度</a:t>
            </a:r>
          </a:p>
        </p:txBody>
      </p:sp>
    </p:spTree>
    <p:extLst>
      <p:ext uri="{BB962C8B-B14F-4D97-AF65-F5344CB8AC3E}">
        <p14:creationId xmlns:p14="http://schemas.microsoft.com/office/powerpoint/2010/main" val="1102730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48640" y="1380744"/>
            <a:ext cx="64008" cy="42976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6153912"/>
            <a:ext cx="11064240" cy="16459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25296"/>
            <a:ext cx="11064240" cy="20116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59CD34-B751-4858-8BB6-F84D3F10421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XGBoost 與 LightGBM 的差異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3357A7-24FA-4CF6-A74E-393A3BB193A2}"/>
              </a:ext>
            </a:extLst>
          </p:cNvPr>
          <p:cNvSpPr>
            <a:spLocks noGrp="1"/>
          </p:cNvSpPr>
          <p:nvPr/>
        </p:nvSpPr>
        <p:spPr>
          <a:xfrm>
            <a:off x="10953750" y="63436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dirty="0">
                <a:latin typeface="Microsoft JhengHei"/>
              </a:rPr>
              <a:t>2</a:t>
            </a:r>
            <a:r>
              <a:rPr sz="1275" b="0" dirty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298C56-2082-410A-8C51-A70766EBF3FD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09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來源：XGBoost／LightGBM 官方文件（查閱：2026-10-20）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D81D2B6-079C-4FFA-A5AA-CEC1B1AB0694}"/>
              </a:ext>
            </a:extLst>
          </p:cNvPr>
          <p:cNvGraphicFramePr/>
          <p:nvPr/>
        </p:nvGraphicFramePr>
        <p:xfrm>
          <a:off x="609600" y="1476375"/>
          <a:ext cx="10972800" cy="345281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solidFill>
                            <a:srgbClr val="FFFFFF"/>
                          </a:solidFill>
                          <a:latin typeface="Noto Sans CJK TC"/>
                        </a:rPr>
                        <a:t>比較面向</a:t>
                      </a:r>
                      <a:endParaRPr/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142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>
                          <a:solidFill>
                            <a:srgbClr val="FFFFFF"/>
                          </a:solidFill>
                          <a:latin typeface="Noto Sans CJK TC"/>
                        </a:rPr>
                        <a:t>XGBoost</a:t>
                      </a: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142C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>
                          <a:solidFill>
                            <a:srgbClr val="FFFFFF"/>
                          </a:solidFill>
                          <a:latin typeface="Noto Sans CJK TC"/>
                        </a:rPr>
                        <a:t>LightGBM</a:t>
                      </a: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14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常用生長策略</a:t>
                      </a:r>
                      <a:endParaRPr/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Depthwise(or lossguide)</a:t>
                      </a: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leaf-wise</a:t>
                      </a: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切點搜尋</a:t>
                      </a:r>
                      <a:endParaRPr/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0" kern="120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支援 </a:t>
                      </a:r>
                      <a:r>
                        <a:rPr lang="en-US" altLang="zh-TW" sz="1800" b="0" kern="120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hist</a:t>
                      </a:r>
                      <a:r>
                        <a:rPr lang="zh-TW" altLang="en-US" sz="1800" b="0" kern="120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TW" sz="1800" b="0" kern="120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approx</a:t>
                      </a:r>
                      <a:r>
                        <a:rPr lang="zh-TW" altLang="en-US" sz="1800" b="0" kern="120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TW" sz="1800" b="0" kern="120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exact</a:t>
                      </a:r>
                      <a:endParaRPr sz="1800" b="0" kern="1200">
                        <a:solidFill>
                          <a:srgbClr val="142C43"/>
                        </a:solidFill>
                        <a:latin typeface="Noto Sans CJK TC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以 </a:t>
                      </a:r>
                      <a:r>
                        <a:rPr lang="en-US" altLang="zh-TW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histogram</a:t>
                      </a:r>
                      <a:r>
                        <a:rPr lang="zh-TW" altLang="en-US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 為核心</a:t>
                      </a: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複雜度控制</a:t>
                      </a:r>
                      <a:endParaRPr/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zh-TW" altLang="en-US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樹深、葉數、分裂門檻及 </a:t>
                      </a:r>
                      <a:r>
                        <a:rPr lang="en-US" altLang="zh-TW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L1</a:t>
                      </a:r>
                      <a:r>
                        <a:rPr lang="zh-TW" altLang="en-US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／</a:t>
                      </a:r>
                      <a:r>
                        <a:rPr lang="en-US" altLang="zh-TW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L2</a:t>
                      </a:r>
                      <a:r>
                        <a:rPr lang="zh-TW" altLang="en-US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 正則化</a:t>
                      </a:r>
                      <a:endParaRPr sz="1800" b="0" kern="1200">
                        <a:solidFill>
                          <a:srgbClr val="142C43"/>
                        </a:solidFill>
                        <a:latin typeface="Noto Sans CJK TC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TW" altLang="en-US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樹深、葉數、分裂門檻及 </a:t>
                      </a:r>
                      <a:r>
                        <a:rPr lang="en-US" altLang="zh-TW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L1</a:t>
                      </a:r>
                      <a:r>
                        <a:rPr lang="zh-TW" altLang="en-US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／</a:t>
                      </a:r>
                      <a:r>
                        <a:rPr lang="en-US" altLang="zh-TW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L2</a:t>
                      </a:r>
                      <a:r>
                        <a:rPr lang="zh-TW" altLang="en-US" sz="1800" b="0" kern="1200" noProof="0">
                          <a:solidFill>
                            <a:srgbClr val="142C43"/>
                          </a:solidFill>
                          <a:latin typeface="Noto Sans CJK TC"/>
                          <a:ea typeface="+mn-ea"/>
                          <a:cs typeface="+mn-cs"/>
                        </a:rPr>
                        <a:t> 正則化</a:t>
                      </a:r>
                      <a:endParaRPr sz="1800" b="0" kern="1200">
                        <a:solidFill>
                          <a:srgbClr val="142C43"/>
                        </a:solidFill>
                        <a:latin typeface="Noto Sans CJK TC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設計重點</a:t>
                      </a:r>
                      <a:endParaRPr/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>
                          <a:solidFill>
                            <a:srgbClr val="142C43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懲罰項與可擴展的樹提升系統</a:t>
                      </a:r>
                      <a:endParaRPr sz="1800" b="0" dirty="0">
                        <a:solidFill>
                          <a:srgbClr val="142C43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>
                          <a:solidFill>
                            <a:srgbClr val="142C43"/>
                          </a:solidFill>
                          <a:latin typeface="Noto Sans CJK TC"/>
                        </a:rPr>
                        <a:t>葉優先生長與計算效率</a:t>
                      </a:r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744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548640" y="1380744"/>
            <a:ext cx="64008" cy="42976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6153912"/>
            <a:ext cx="11064240" cy="16459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225296"/>
            <a:ext cx="11064240" cy="20116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39B501-9DF8-431B-803D-EDD0F274FEA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本研究選用兩個模型的理由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4D2EA0-735B-45CC-9AE6-806E98C1F4A7}"/>
              </a:ext>
            </a:extLst>
          </p:cNvPr>
          <p:cNvSpPr>
            <a:spLocks noGrp="1"/>
          </p:cNvSpPr>
          <p:nvPr/>
        </p:nvSpPr>
        <p:spPr>
          <a:xfrm>
            <a:off x="10953750" y="63436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dirty="0">
                <a:latin typeface="Microsoft JhengHei"/>
              </a:rPr>
              <a:t>2</a:t>
            </a:r>
            <a:r>
              <a:rPr sz="1275" b="0" dirty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C757E-71EE-4273-860E-A4AE3756871B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09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研究選模理由：依資料結構與方法特性提出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E45DF5-ABA3-4D68-888F-59D29F0A5BE4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非線性與交互作用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634AA6-A370-479A-A012-8AFB86485C1E}"/>
              </a:ext>
            </a:extLst>
          </p:cNvPr>
          <p:cNvSpPr>
            <a:spLocks noGrp="1"/>
          </p:cNvSpPr>
          <p:nvPr/>
        </p:nvSpPr>
        <p:spPr>
          <a:xfrm>
            <a:off x="3905250" y="1571625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OD 車流對壅塞的關聯，可能隨尖峰時段或雨量改變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B929AD-C78A-4B8A-82AB-E24EE44C81A8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表格資料與比較需求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5D87F0-1736-4943-96E1-78B69FEF6882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車流、時間、氣象可作為特徵，通常無須標準化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A1C440-EEDA-4F3E-BF3D-6D254B3563B6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150">
                <a:solidFill/>
                <a:latin typeface="Microsoft JhengHei"/>
              </a:rPr>
              <a:t>主流且受認可</a:t>
            </a:r>
            <a:endParaRPr lang="zh-TW" altLang="en-US" sz="2150" b="1" dirty="0">
              <a:solidFill>
                <a:srgbClr val="087F8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EF6E67-0026-4901-ACD0-381C9EEAB7F4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>
                <a:solidFill/>
                <a:latin typeface="Microsoft JhengHei"/>
              </a:rPr>
              <a:t>實戰穩定性與眾多競賽實績,並且受業界認可</a:t>
            </a:r>
            <a:endParaRPr sz="2100" b="0">
              <a:solidFill>
                <a:srgbClr val="142C4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B81777-03A0-5FFF-1B60-D0DF7B3B2D2E}"/>
              </a:ext>
            </a:extLst>
          </p:cNvPr>
          <p:cNvSpPr>
            <a:spLocks noGrp="1"/>
          </p:cNvSpPr>
          <p:nvPr/>
        </p:nvSpPr>
        <p:spPr>
          <a:xfrm>
            <a:off x="685799" y="5528403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7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150">
                <a:solidFill/>
                <a:latin typeface="Microsoft JhengHei"/>
              </a:rPr>
              <a:t>符合龐大數據資料型態</a:t>
            </a:r>
            <a:endParaRPr lang="zh-TW" altLang="en-US" sz="2150" b="1" dirty="0">
              <a:solidFill>
                <a:srgbClr val="087F8C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4AD3A6-A68C-243B-E78C-72AAF2CA2CFC}"/>
              </a:ext>
            </a:extLst>
          </p:cNvPr>
          <p:cNvSpPr>
            <a:spLocks noGrp="1"/>
          </p:cNvSpPr>
          <p:nvPr/>
        </p:nvSpPr>
        <p:spPr>
          <a:xfrm>
            <a:off x="3905249" y="5528403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100" b="0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>
                <a:solidFill/>
                <a:latin typeface="Microsoft JhengHei"/>
                <a:cs typeface="Arial"/>
              </a:rPr>
              <a:t>適合在國道中擁有大量VD與OD資料量的模型方法</a:t>
            </a:r>
            <a:endParaRPr lang="zh-TW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2442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548640" y="1380744"/>
            <a:ext cx="64008" cy="42976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6153912"/>
            <a:ext cx="11064240" cy="16459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1225296"/>
            <a:ext cx="11064240" cy="20116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A9423C-6C4C-4A31-BFC7-B513DD6B232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參考文獻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91A46D-3940-4C67-B7E8-3C64AEF41DBF}"/>
              </a:ext>
            </a:extLst>
          </p:cNvPr>
          <p:cNvSpPr>
            <a:spLocks noGrp="1"/>
          </p:cNvSpPr>
          <p:nvPr/>
        </p:nvSpPr>
        <p:spPr>
          <a:xfrm>
            <a:off x="10953750" y="63436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7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dirty="0">
                <a:latin typeface="Microsoft JhengHei"/>
              </a:rPr>
              <a:t>30</a:t>
            </a:r>
            <a:endParaRPr sz="1275" b="0" dirty="0">
              <a:solidFill>
                <a:srgbClr val="526579"/>
              </a:solidFill>
              <a:latin typeface="Microsoft JhengHei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F1E6FB-66D4-4218-AA79-0F21F6B44932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09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200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完整網址及逐頁講稿收錄於投影片備忘稿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951423-5EBA-4E2A-8C0D-B4F4116F6FC6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27E86C-31B7-4B4A-8A4A-8694A171FCC6}"/>
              </a:ext>
            </a:extLst>
          </p:cNvPr>
          <p:cNvSpPr>
            <a:spLocks noGrp="1"/>
          </p:cNvSpPr>
          <p:nvPr/>
        </p:nvSpPr>
        <p:spPr>
          <a:xfrm>
            <a:off x="1619250" y="1476375"/>
            <a:ext cx="981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Chen &amp; Guestrin（2016）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F431FB-053D-4CBF-B8B3-308AA44DE7EF}"/>
              </a:ext>
            </a:extLst>
          </p:cNvPr>
          <p:cNvSpPr>
            <a:spLocks noGrp="1"/>
          </p:cNvSpPr>
          <p:nvPr/>
        </p:nvSpPr>
        <p:spPr>
          <a:xfrm>
            <a:off x="1619250" y="1905000"/>
            <a:ext cx="981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XGBoost: A Scalable Tree Boosting System. KDD.</a:t>
            </a:r>
          </a:p>
          <a:p>
            <a: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DOI: 10.1145/2939672.2939785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1946FD-5DEE-45ED-9535-4A9B3E1E1E6F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862CDF-F3DB-4E65-A60F-8AC5ACCDD060}"/>
              </a:ext>
            </a:extLst>
          </p:cNvPr>
          <p:cNvSpPr>
            <a:spLocks noGrp="1"/>
          </p:cNvSpPr>
          <p:nvPr/>
        </p:nvSpPr>
        <p:spPr>
          <a:xfrm>
            <a:off x="1619250" y="2600325"/>
            <a:ext cx="981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Ke et al.（2017）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53B325-08FA-4579-A587-74206B25168B}"/>
              </a:ext>
            </a:extLst>
          </p:cNvPr>
          <p:cNvSpPr>
            <a:spLocks noGrp="1"/>
          </p:cNvSpPr>
          <p:nvPr/>
        </p:nvSpPr>
        <p:spPr>
          <a:xfrm>
            <a:off x="1619250" y="3028950"/>
            <a:ext cx="981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LightGBM: A Highly Efficient Gradient Boosting Decision Tree.</a:t>
            </a:r>
          </a:p>
          <a:p>
            <a: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Advances in Neural Information Processing Systems 30.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B078B0-4500-4570-B4CE-70C74F7D52C2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3EB9FF-1819-415A-9694-B8AB955557E7}"/>
              </a:ext>
            </a:extLst>
          </p:cNvPr>
          <p:cNvSpPr>
            <a:spLocks noGrp="1"/>
          </p:cNvSpPr>
          <p:nvPr/>
        </p:nvSpPr>
        <p:spPr>
          <a:xfrm>
            <a:off x="1619250" y="3724275"/>
            <a:ext cx="981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官方技術文件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457790-1AA7-4079-8B2F-0E50C14CD58D}"/>
              </a:ext>
            </a:extLst>
          </p:cNvPr>
          <p:cNvSpPr>
            <a:spLocks noGrp="1"/>
          </p:cNvSpPr>
          <p:nvPr/>
        </p:nvSpPr>
        <p:spPr>
          <a:xfrm>
            <a:off x="1619250" y="4152900"/>
            <a:ext cx="981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XGBoost Parameters；LightGBM Features / Parameters</a:t>
            </a:r>
          </a:p>
          <a:p>
            <a: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查閱日期：2026-10-20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775A1D-29B5-4BC4-980C-B04258F4E71C}"/>
              </a:ext>
            </a:extLst>
          </p:cNvPr>
          <p:cNvSpPr>
            <a:spLocks noGrp="1"/>
          </p:cNvSpPr>
          <p:nvPr/>
        </p:nvSpPr>
        <p:spPr>
          <a:xfrm>
            <a:off x="685800" y="484822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325" b="1">
                <a:solidFill>
                  <a:srgbClr val="087F8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87F82"/>
                </a:solidFill>
                <a:latin typeface="Microsoft JhengHei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1B5CCD-6C67-4A28-B0DC-2BE152C0A024}"/>
              </a:ext>
            </a:extLst>
          </p:cNvPr>
          <p:cNvSpPr>
            <a:spLocks noGrp="1"/>
          </p:cNvSpPr>
          <p:nvPr/>
        </p:nvSpPr>
        <p:spPr>
          <a:xfrm>
            <a:off x="1619250" y="4848225"/>
            <a:ext cx="981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2025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42D42"/>
                </a:solidFill>
                <a:latin typeface="Microsoft JhengHei"/>
                <a:ea typeface="Noto Sans CJK TC"/>
                <a:cs typeface="Noto Sans CJK TC"/>
              </a:rPr>
              <a:t>使用者提供的延伸閱讀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08E94E-DCAC-425E-AC50-68501E5CBC35}"/>
              </a:ext>
            </a:extLst>
          </p:cNvPr>
          <p:cNvSpPr>
            <a:spLocks noGrp="1"/>
          </p:cNvSpPr>
          <p:nvPr/>
        </p:nvSpPr>
        <p:spPr>
          <a:xfrm>
            <a:off x="1619250" y="5276850"/>
            <a:ext cx="981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CSDN：深度剖析 LightGBM vs XGBOOST 哪个更胜一筹</a:t>
            </a:r>
          </a:p>
          <a:p>
            <a:pPr>
              <a:defRPr sz="1725" b="0">
                <a:solidFill>
                  <a:srgbClr val="5265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526579"/>
                </a:solidFill>
                <a:latin typeface="Microsoft JhengHei"/>
                <a:ea typeface="Noto Sans CJK TC"/>
                <a:cs typeface="Noto Sans CJK TC"/>
              </a:rPr>
              <a:t>僅供概念對照，技術差異以原始論文與官方文件核對</a:t>
            </a:r>
          </a:p>
        </p:txBody>
      </p:sp>
    </p:spTree>
    <p:extLst>
      <p:ext uri="{BB962C8B-B14F-4D97-AF65-F5344CB8AC3E}">
        <p14:creationId xmlns:p14="http://schemas.microsoft.com/office/powerpoint/2010/main" val="1542817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48640" y="1380744"/>
            <a:ext cx="64008" cy="42976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6153912"/>
            <a:ext cx="11064240" cy="16459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1064240" cy="20116"/>
          </a:xfrm>
          <a:prstGeom prst="rect">
            <a:avLst/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F9961E-950F-67B3-C269-F8EA51A4E098}"/>
              </a:ext>
            </a:extLst>
          </p:cNvPr>
          <p:cNvSpPr>
            <a:spLocks noGrp="1"/>
          </p:cNvSpPr>
          <p:nvPr/>
        </p:nvSpPr>
        <p:spPr>
          <a:xfrm>
            <a:off x="609600" y="2665046"/>
            <a:ext cx="10972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defPPr>
            <a:lvl1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1pPr>
            <a:lvl2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2pPr>
            <a:lvl3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3pPr>
            <a:lvl4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4pPr>
            <a:lvl5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5pPr>
            <a:lvl6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6pPr>
            <a:lvl7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7pPr>
            <a:lvl8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8pPr>
            <a:lvl9pPr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>
            <a:pPr algn="ctr">
              <a:defRPr sz="3150" b="1">
                <a:solidFill>
                  <a:srgbClr val="142C4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8000">
                <a:solidFill/>
                <a:latin typeface="Microsoft JhengHei"/>
              </a:rPr>
              <a:t>Thanks!</a:t>
            </a:r>
            <a:endParaRPr lang="zh-TW" sz="8000"/>
          </a:p>
        </p:txBody>
      </p:sp>
    </p:spTree>
    <p:extLst>
      <p:ext uri="{BB962C8B-B14F-4D97-AF65-F5344CB8AC3E}">
        <p14:creationId xmlns:p14="http://schemas.microsoft.com/office/powerpoint/2010/main" val="3630362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2907</Words>
  <Application>Microsoft Office PowerPoint</Application>
  <PresentationFormat>寬螢幕</PresentationFormat>
  <Paragraphs>512</Paragraphs>
  <Slides>31</Slides>
  <Notes>22</Notes>
  <HiddenSlides>0</HiddenSlides>
  <MMClips>4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0" baseType="lpstr">
      <vt:lpstr>Noto Sans CJK TC</vt:lpstr>
      <vt:lpstr>微軟正黑體</vt:lpstr>
      <vt:lpstr>微軟正黑體</vt:lpstr>
      <vt:lpstr>Arial</vt:lpstr>
      <vt:lpstr>Segoe UI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鄭筱蓓</cp:lastModifiedBy>
  <cp:revision>9</cp:revision>
  <dcterms:modified xsi:type="dcterms:W3CDTF">2026-10-22T05:40:50Z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2026-10-21T19:06:10Z</dcterms:created>
  <dc:creator>OpenAI</dc:creator>
  <dc:description/>
  <dc:language>en-US</dc:language>
  <cp:lastModifiedBy>OpenAI</cp:lastModifiedBy>
  <dcterms:modified xsi:type="dcterms:W3CDTF">2026-10-21T19:06:10Z</dcterms:modified>
  <cp:revision>1</cp:revision>
  <dc:subject>XGBoost and LightGBM</dc:subject>
  <dc:title>XGBoost 與 LightGBM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</Properties>
</file>