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70" r:id="rId3"/>
    <p:sldId id="271" r:id="rId4"/>
    <p:sldId id="272" r:id="rId5"/>
    <p:sldId id="258" r:id="rId6"/>
    <p:sldId id="265" r:id="rId7"/>
    <p:sldId id="266" r:id="rId8"/>
    <p:sldId id="267" r:id="rId9"/>
    <p:sldId id="264" r:id="rId10"/>
    <p:sldId id="268" r:id="rId11"/>
    <p:sldId id="260" r:id="rId12"/>
    <p:sldId id="274" r:id="rId13"/>
    <p:sldId id="261" r:id="rId14"/>
    <p:sldId id="273" r:id="rId15"/>
  </p:sldIdLst>
  <p:sldSz cx="12192000" cy="6858000"/>
  <p:notesSz cx="6858000" cy="9144000"/>
  <p:embeddedFontLst>
    <p:embeddedFont>
      <p:font typeface="Microsoft JhengHei" panose="020B0604030504040204" pitchFamily="34" charset="-120"/>
      <p:regular r:id="rId16"/>
      <p:bold r:id="rId17"/>
    </p:embeddedFont>
    <p:embeddedFont>
      <p:font typeface="標楷體" panose="03000509000000000000" pitchFamily="65" charset="-120"/>
      <p:regular r:id="rId18"/>
    </p:embeddedFont>
    <p:embeddedFont>
      <p:font typeface="Noto Sans TC" panose="020B0200000000000000" pitchFamily="34" charset="-12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1918DDB-5B4B-C828-A770-C16C0E2C7D1E}"/>
              </a:ext>
            </a:extLst>
          </p:cNvPr>
          <p:cNvSpPr txBox="1"/>
          <p:nvPr/>
        </p:nvSpPr>
        <p:spPr>
          <a:xfrm>
            <a:off x="2983344" y="1687355"/>
            <a:ext cx="6225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國道瓶頸路段 OD 旅次型態分析、需求預測與壅塞預警之研究</a:t>
            </a: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7CD14E-4EF7-DADA-149B-B58038ED5201}"/>
              </a:ext>
            </a:extLst>
          </p:cNvPr>
          <p:cNvSpPr txBox="1"/>
          <p:nvPr/>
        </p:nvSpPr>
        <p:spPr>
          <a:xfrm>
            <a:off x="4308759" y="4130250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組員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鍾艾珊、鄭筱蓓、陳昆侑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2949990-2F39-0CEB-F9D0-FB0782CFD5B1}"/>
              </a:ext>
            </a:extLst>
          </p:cNvPr>
          <p:cNvSpPr txBox="1"/>
          <p:nvPr/>
        </p:nvSpPr>
        <p:spPr>
          <a:xfrm>
            <a:off x="5509486" y="4810427"/>
            <a:ext cx="1173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2026/10/1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E0759-7B2D-E401-2497-48D41A6B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8A491CAF-69DD-9BD5-50FA-E88B621329AD}"/>
              </a:ext>
            </a:extLst>
          </p:cNvPr>
          <p:cNvSpPr/>
          <p:nvPr/>
        </p:nvSpPr>
        <p:spPr>
          <a:xfrm>
            <a:off x="4341088" y="2647423"/>
            <a:ext cx="3505200" cy="22098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6C6E6E-6BC0-DBBD-B2B8-01F3CA3A487B}"/>
              </a:ext>
            </a:extLst>
          </p:cNvPr>
          <p:cNvSpPr/>
          <p:nvPr/>
        </p:nvSpPr>
        <p:spPr>
          <a:xfrm>
            <a:off x="609600" y="2659260"/>
            <a:ext cx="3505200" cy="22098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ED2630-BE46-9CE3-C73A-DCA76833AA75}"/>
              </a:ext>
            </a:extLst>
          </p:cNvPr>
          <p:cNvSpPr/>
          <p:nvPr/>
        </p:nvSpPr>
        <p:spPr>
          <a:xfrm>
            <a:off x="8077200" y="2650024"/>
            <a:ext cx="3505200" cy="22098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D2D772A-C456-5E26-398B-8C51EBB5D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83110"/>
            <a:ext cx="207466" cy="2667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A54A3ED6-A776-61E5-2738-AB11CB28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54686"/>
            <a:ext cx="207466" cy="2667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E948F837-61AC-0019-9BDA-EB0D6F561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983110"/>
            <a:ext cx="207466" cy="266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61352C-B4BF-2342-FC31-F7369454CA3E}"/>
              </a:ext>
            </a:extLst>
          </p:cNvPr>
          <p:cNvSpPr txBox="1"/>
          <p:nvPr/>
        </p:nvSpPr>
        <p:spPr>
          <a:xfrm>
            <a:off x="609600" y="457200"/>
            <a:ext cx="2769989" cy="352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研究背景與</a:t>
            </a:r>
            <a:r>
              <a:rPr lang="zh-TW" altLang="en-US" sz="2400" b="1" i="0" u="none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交通痛點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96C86-D34D-52FE-D1CF-681A41FAF6F1}"/>
              </a:ext>
            </a:extLst>
          </p:cNvPr>
          <p:cNvSpPr txBox="1"/>
          <p:nvPr/>
        </p:nvSpPr>
        <p:spPr>
          <a:xfrm>
            <a:off x="914400" y="3421260"/>
            <a:ext cx="38004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假日交通需求激增</a:t>
            </a:r>
            <a:endParaRPr sz="15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39BB2-DF04-64A9-5980-9D7DC25D43E5}"/>
              </a:ext>
            </a:extLst>
          </p:cNvPr>
          <p:cNvSpPr txBox="1"/>
          <p:nvPr/>
        </p:nvSpPr>
        <p:spPr>
          <a:xfrm>
            <a:off x="914400" y="3792735"/>
            <a:ext cx="2990850" cy="490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例假日與連續假期期間，國道重點路段常湧現爆發性車潮，導致顯著降速</a:t>
            </a:r>
            <a:r>
              <a:rPr sz="1350" b="0" i="0" u="none" dirty="0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AB6DA-B40D-1404-823C-AA13A7F505F3}"/>
              </a:ext>
            </a:extLst>
          </p:cNvPr>
          <p:cNvSpPr txBox="1"/>
          <p:nvPr/>
        </p:nvSpPr>
        <p:spPr>
          <a:xfrm>
            <a:off x="4648200" y="3392836"/>
            <a:ext cx="38004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瓶頸路段服務水準下降</a:t>
            </a:r>
            <a:endParaRPr sz="15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B43BF3-BF14-6565-5A91-E64CFE166BF4}"/>
              </a:ext>
            </a:extLst>
          </p:cNvPr>
          <p:cNvSpPr txBox="1"/>
          <p:nvPr/>
        </p:nvSpPr>
        <p:spPr>
          <a:xfrm>
            <a:off x="4648200" y="3764311"/>
            <a:ext cx="2990850" cy="490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車流量超越道路容量極限，影響整體運輸效率並拉長用路人行車時間</a:t>
            </a:r>
            <a:r>
              <a:rPr sz="1350" b="0" i="0" u="none" dirty="0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F7BB8-DE7E-4650-1B89-52ABD956375C}"/>
              </a:ext>
            </a:extLst>
          </p:cNvPr>
          <p:cNvSpPr txBox="1"/>
          <p:nvPr/>
        </p:nvSpPr>
        <p:spPr>
          <a:xfrm>
            <a:off x="8382000" y="3421260"/>
            <a:ext cx="38004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研究核心目的</a:t>
            </a:r>
            <a:endParaRPr sz="15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2708FE-73F4-00A6-445C-8CD3C8F7D186}"/>
              </a:ext>
            </a:extLst>
          </p:cNvPr>
          <p:cNvSpPr txBox="1"/>
          <p:nvPr/>
        </p:nvSpPr>
        <p:spPr>
          <a:xfrm>
            <a:off x="8382000" y="3792735"/>
            <a:ext cx="2990850" cy="490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透過起迄點（OD）旅次深度分析與預測模型，探討車流規律並提供疏運參考</a:t>
            </a:r>
            <a:r>
              <a:rPr sz="1350" b="0" i="0" u="none" dirty="0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9973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EDA2E-60A6-2291-68B5-76D56E02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85FE49C-67F7-93DA-B7C9-BF65F1C78205}"/>
              </a:ext>
            </a:extLst>
          </p:cNvPr>
          <p:cNvSpPr txBox="1"/>
          <p:nvPr/>
        </p:nvSpPr>
        <p:spPr>
          <a:xfrm>
            <a:off x="609600" y="457200"/>
            <a:ext cx="1231106" cy="352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</a:t>
            </a:r>
            <a:r>
              <a:rPr lang="zh-TW" altLang="en-US" sz="2400" b="1" i="0" u="none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動機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E28F4C0-03FD-6327-B70B-4FC9CCA94884}"/>
              </a:ext>
            </a:extLst>
          </p:cNvPr>
          <p:cNvSpPr txBox="1"/>
          <p:nvPr/>
        </p:nvSpPr>
        <p:spPr>
          <a:xfrm>
            <a:off x="609600" y="1302327"/>
            <a:ext cx="93656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單純觀察車速與流量，可以掌握道路當下交通狀態，但較難進一步說明瓶頸時段的旅次來源與目的地。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不同平日、週末、連假階段及天候條件下，瓶頸路段的 OD 需求結構</a:t>
            </a:r>
            <a:r>
              <a:rPr lang="zh-TW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可能具有不同型態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，值得進一步分析。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若能掌握 OD 需求的時間規律，便可進一步預測未來一段時間內的旅次需求與道路交通狀態。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希望由「事後描述壅塞」進一步轉向「提前掌握需求與壅塞風險」，使分析結果能作為交通疏運及資訊發布的參考。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21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B4CF2-EF04-1375-E283-4F88FA6E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E0AFA75-0471-6D6A-4AEE-82B981AF5B9A}"/>
              </a:ext>
            </a:extLst>
          </p:cNvPr>
          <p:cNvSpPr txBox="1"/>
          <p:nvPr/>
        </p:nvSpPr>
        <p:spPr>
          <a:xfrm>
            <a:off x="609600" y="457200"/>
            <a:ext cx="1231106" cy="352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</a:t>
            </a: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10C76AE-B574-C958-8363-09B16C76AABC}"/>
              </a:ext>
            </a:extLst>
          </p:cNvPr>
          <p:cNvSpPr txBox="1"/>
          <p:nvPr/>
        </p:nvSpPr>
        <p:spPr>
          <a:xfrm>
            <a:off x="609600" y="1302327"/>
            <a:ext cx="93656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掌握瓶頸路段 OD 旅次結構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比較平日、週末、連續假期不同階段及天候條件下，OD 結構與交通狀態的變化。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結合歷史 OD、VD 交通資訊、日期型態與氣象資料，預測未來 OD 需求、車速或壅塞風險。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整合預測結果，呈現未來高風險時段、主要 OD 來源、交通狀態與影響因素，提供交通資訊發布及疏運規劃參考。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74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216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0216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3385542" cy="352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zh-TW" altLang="en-US" sz="2400" b="1" i="0" u="none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研究範疇與重點路段選定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68860"/>
            <a:ext cx="390048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Noto Sans TC"/>
              </a:rPr>
              <a:t>國道5號雙向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73660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475569"/>
                </a:solidFill>
                <a:latin typeface="Noto Sans TC"/>
              </a:rPr>
              <a:t>坪林</a:t>
            </a:r>
            <a:r>
              <a:rPr sz="1350" b="1" i="0" u="none" dirty="0">
                <a:solidFill>
                  <a:srgbClr val="475569"/>
                </a:solidFill>
                <a:latin typeface="Noto Sans TC"/>
              </a:rPr>
              <a:t> - </a:t>
            </a:r>
            <a:r>
              <a:rPr sz="1350" b="1" i="0" u="none" dirty="0" err="1">
                <a:solidFill>
                  <a:srgbClr val="475569"/>
                </a:solidFill>
                <a:latin typeface="Noto Sans TC"/>
              </a:rPr>
              <a:t>頭城</a:t>
            </a:r>
            <a:r>
              <a:rPr dirty="0"/>
              <a:t>
</a:t>
            </a:r>
            <a:r>
              <a:rPr sz="1350" b="0" i="0" u="none" dirty="0" err="1">
                <a:solidFill>
                  <a:srgbClr val="475569"/>
                </a:solidFill>
                <a:latin typeface="Noto Sans TC"/>
              </a:rPr>
              <a:t>針對暑期旅遊及連續假期觀光旅次進行重點剖析</a:t>
            </a:r>
            <a:r>
              <a:rPr sz="1350" b="0" i="0" u="none" dirty="0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68860"/>
            <a:ext cx="390048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Noto Sans TC"/>
              </a:rPr>
              <a:t>國道1號雙向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73660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475569"/>
                </a:solidFill>
                <a:latin typeface="Noto Sans TC"/>
              </a:rPr>
              <a:t>湖口</a:t>
            </a:r>
            <a:r>
              <a:rPr sz="1350" b="1" i="0" u="none" dirty="0">
                <a:solidFill>
                  <a:srgbClr val="475569"/>
                </a:solidFill>
                <a:latin typeface="Noto Sans TC"/>
              </a:rPr>
              <a:t> - </a:t>
            </a:r>
            <a:r>
              <a:rPr sz="1350" b="1" i="0" u="none" dirty="0" err="1">
                <a:solidFill>
                  <a:srgbClr val="475569"/>
                </a:solidFill>
                <a:latin typeface="Noto Sans TC"/>
              </a:rPr>
              <a:t>新竹、彰化系統</a:t>
            </a:r>
            <a:r>
              <a:rPr sz="1350" b="1" i="0" u="none" dirty="0">
                <a:solidFill>
                  <a:srgbClr val="475569"/>
                </a:solidFill>
                <a:latin typeface="Noto Sans TC"/>
              </a:rPr>
              <a:t> - </a:t>
            </a:r>
            <a:r>
              <a:rPr sz="1350" b="1" i="0" u="none" dirty="0" err="1">
                <a:solidFill>
                  <a:srgbClr val="475569"/>
                </a:solidFill>
                <a:latin typeface="Noto Sans TC"/>
              </a:rPr>
              <a:t>埔鹽系統</a:t>
            </a:r>
            <a:r>
              <a:rPr dirty="0"/>
              <a:t>
</a:t>
            </a:r>
            <a:r>
              <a:rPr sz="1350" b="0" i="0" u="none" dirty="0" err="1">
                <a:solidFill>
                  <a:srgbClr val="475569"/>
                </a:solidFill>
                <a:latin typeface="Noto Sans TC"/>
              </a:rPr>
              <a:t>分析都會通勤與長途旅次交織造成的瓶頸</a:t>
            </a:r>
            <a:r>
              <a:rPr sz="1350" b="0" i="0" u="none" dirty="0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68860"/>
            <a:ext cx="38481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Noto Sans TC"/>
              </a:rPr>
              <a:t>國道3號雙向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73660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475569"/>
                </a:solidFill>
                <a:latin typeface="Noto Sans TC"/>
              </a:rPr>
              <a:t>大溪</a:t>
            </a:r>
            <a:r>
              <a:rPr sz="1350" b="1" i="0" u="none" dirty="0">
                <a:solidFill>
                  <a:srgbClr val="475569"/>
                </a:solidFill>
                <a:latin typeface="Noto Sans TC"/>
              </a:rPr>
              <a:t> - </a:t>
            </a:r>
            <a:r>
              <a:rPr sz="1350" b="1" i="0" u="none" dirty="0" err="1">
                <a:solidFill>
                  <a:srgbClr val="475569"/>
                </a:solidFill>
                <a:latin typeface="Noto Sans TC"/>
              </a:rPr>
              <a:t>龍潭</a:t>
            </a:r>
            <a:r>
              <a:rPr dirty="0"/>
              <a:t>
</a:t>
            </a:r>
            <a:r>
              <a:rPr sz="1350" b="0" i="0" u="none" dirty="0" err="1">
                <a:solidFill>
                  <a:srgbClr val="475569"/>
                </a:solidFill>
                <a:latin typeface="Noto Sans TC"/>
              </a:rPr>
              <a:t>針對桃竹山區假日休閒觀光車流進行流向追蹤</a:t>
            </a:r>
            <a:r>
              <a:rPr sz="1350" b="0" i="0" u="none" dirty="0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6438C466-9DA0-C303-0366-BD65A5B21331}"/>
              </a:ext>
            </a:extLst>
          </p:cNvPr>
          <p:cNvSpPr/>
          <p:nvPr/>
        </p:nvSpPr>
        <p:spPr>
          <a:xfrm>
            <a:off x="2139438" y="2539597"/>
            <a:ext cx="335907" cy="28136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A6C9FDB8-EB1A-A639-97F6-BD37E3CD3D1D}"/>
              </a:ext>
            </a:extLst>
          </p:cNvPr>
          <p:cNvSpPr/>
          <p:nvPr/>
        </p:nvSpPr>
        <p:spPr>
          <a:xfrm>
            <a:off x="9596284" y="2521527"/>
            <a:ext cx="335907" cy="29943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39B81-AF14-5EB2-0A01-4E7C115C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0BA19A-A507-1B40-5EBB-E3D35F72801E}"/>
              </a:ext>
            </a:extLst>
          </p:cNvPr>
          <p:cNvSpPr txBox="1"/>
          <p:nvPr/>
        </p:nvSpPr>
        <p:spPr>
          <a:xfrm>
            <a:off x="609600" y="457200"/>
            <a:ext cx="3847207" cy="352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資料介紹</a:t>
            </a:r>
            <a:r>
              <a:rPr lang="en-US" altLang="zh-TW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旅次路徑原始資料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F79CFE2-C14E-7718-2A5B-47429A6F491F}"/>
              </a:ext>
            </a:extLst>
          </p:cNvPr>
          <p:cNvSpPr/>
          <p:nvPr/>
        </p:nvSpPr>
        <p:spPr>
          <a:xfrm>
            <a:off x="609600" y="1337187"/>
            <a:ext cx="1160206" cy="62926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M06B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FEF8850-5BB2-C3A1-EEBA-228770C4A03C}"/>
              </a:ext>
            </a:extLst>
          </p:cNvPr>
          <p:cNvCxnSpPr>
            <a:cxnSpLocks/>
          </p:cNvCxnSpPr>
          <p:nvPr/>
        </p:nvCxnSpPr>
        <p:spPr>
          <a:xfrm>
            <a:off x="2172929" y="1622323"/>
            <a:ext cx="471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2E218D0-000E-5495-F085-82B13CED2277}"/>
              </a:ext>
            </a:extLst>
          </p:cNvPr>
          <p:cNvSpPr/>
          <p:nvPr/>
        </p:nvSpPr>
        <p:spPr>
          <a:xfrm>
            <a:off x="3048000" y="1337187"/>
            <a:ext cx="2880852" cy="62926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20240101~20251231</a:t>
            </a:r>
            <a:endParaRPr lang="zh-TW" altLang="en-US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4226761-8CD6-4988-D548-E726C5516341}"/>
              </a:ext>
            </a:extLst>
          </p:cNvPr>
          <p:cNvCxnSpPr>
            <a:cxnSpLocks/>
          </p:cNvCxnSpPr>
          <p:nvPr/>
        </p:nvCxnSpPr>
        <p:spPr>
          <a:xfrm>
            <a:off x="6435213" y="1617407"/>
            <a:ext cx="471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0C59B144-CC2D-F271-FB15-4EE18B2D23DC}"/>
              </a:ext>
            </a:extLst>
          </p:cNvPr>
          <p:cNvSpPr/>
          <p:nvPr/>
        </p:nvSpPr>
        <p:spPr>
          <a:xfrm>
            <a:off x="7413523" y="1337187"/>
            <a:ext cx="1268362" cy="62926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00~23</a:t>
            </a:r>
            <a:endParaRPr lang="zh-TW" altLang="en-US" dirty="0"/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72B5E2AA-DACB-0135-F5CA-2D4AE5DF3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54827"/>
              </p:ext>
            </p:extLst>
          </p:nvPr>
        </p:nvGraphicFramePr>
        <p:xfrm>
          <a:off x="609600" y="2404302"/>
          <a:ext cx="10038735" cy="406681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27434">
                  <a:extLst>
                    <a:ext uri="{9D8B030D-6E8A-4147-A177-3AD203B41FA5}">
                      <a16:colId xmlns:a16="http://schemas.microsoft.com/office/drawing/2014/main" val="3834008218"/>
                    </a:ext>
                  </a:extLst>
                </a:gridCol>
                <a:gridCol w="3724026">
                  <a:extLst>
                    <a:ext uri="{9D8B030D-6E8A-4147-A177-3AD203B41FA5}">
                      <a16:colId xmlns:a16="http://schemas.microsoft.com/office/drawing/2014/main" val="3860829432"/>
                    </a:ext>
                  </a:extLst>
                </a:gridCol>
                <a:gridCol w="3987275">
                  <a:extLst>
                    <a:ext uri="{9D8B030D-6E8A-4147-A177-3AD203B41FA5}">
                      <a16:colId xmlns:a16="http://schemas.microsoft.com/office/drawing/2014/main" val="1486452960"/>
                    </a:ext>
                  </a:extLst>
                </a:gridCol>
              </a:tblGrid>
              <a:tr h="33289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欄位名稱 (Column)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欄位說明與定義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應用於本研究之意義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7289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VehicleType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車種代碼（如 31：小客車、42：大貨車、</a:t>
                      </a:r>
                      <a:r>
                        <a:rPr lang="zh-TW" altLang="en-US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</a:t>
                      </a: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41：大客車、5：聯結車等）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用於區分不同車種之通勤與運輸行為特性。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2189134265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DetectionTimeO / GantryO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起點時間 與 起點門架編號（旅次中通過第 1 個門架之時間與位置）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定義車輛進入分析路段或起點的起始點。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4205822527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DetectionTimeD / GantryD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迄點時間 與 迄點門架編號（旅次中通過最後 1 個門架之時間與位置）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定義車輛離開分析路段或迄點的終止點。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3110858471"/>
                  </a:ext>
                </a:extLst>
              </a:tr>
              <a:tr h="507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TripLength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旅次距離長度（單位：公里）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輔助檢核行駛路徑之合理性與空間距離計算。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2919609022"/>
                  </a:ext>
                </a:extLst>
              </a:tr>
              <a:tr h="507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TripEnd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旅次標記（</a:t>
                      </a:r>
                      <a:r>
                        <a:rPr lang="zh-TW" sz="9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</a:t>
                      </a: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：正常結束、</a:t>
                      </a:r>
                      <a:r>
                        <a:rPr lang="zh-TW" sz="9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</a:t>
                      </a: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：異常旅次）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用於資料清洗，過濾異常或中斷之無效旅次。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3627606171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TripInformation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本旅次經過的各門架之通過時間及門架編號序列</a:t>
                      </a:r>
                      <a:endParaRPr lang="zh-TW" sz="150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OD 旅次重構與路徑分析的核心數據，提供詳細時間序列。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356006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983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E5847-0AD5-C93E-3788-A7A5C5A9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E0FF44-011C-FD1F-6C62-FCAE41DE80CE}"/>
              </a:ext>
            </a:extLst>
          </p:cNvPr>
          <p:cNvSpPr txBox="1"/>
          <p:nvPr/>
        </p:nvSpPr>
        <p:spPr>
          <a:xfrm>
            <a:off x="609600" y="457200"/>
            <a:ext cx="50783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資料介紹</a:t>
            </a:r>
            <a:r>
              <a:rPr lang="en-US" altLang="zh-TW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zh-TW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站間各車種中位數行駛車速</a:t>
            </a:r>
            <a:endParaRPr sz="2400" b="1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3AA0CBF6-C0D5-D0C0-6753-92B718E97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817262"/>
              </p:ext>
            </p:extLst>
          </p:nvPr>
        </p:nvGraphicFramePr>
        <p:xfrm>
          <a:off x="609600" y="1462034"/>
          <a:ext cx="9252156" cy="43868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58445">
                  <a:extLst>
                    <a:ext uri="{9D8B030D-6E8A-4147-A177-3AD203B41FA5}">
                      <a16:colId xmlns:a16="http://schemas.microsoft.com/office/drawing/2014/main" val="3834008218"/>
                    </a:ext>
                  </a:extLst>
                </a:gridCol>
                <a:gridCol w="5693711">
                  <a:extLst>
                    <a:ext uri="{9D8B030D-6E8A-4147-A177-3AD203B41FA5}">
                      <a16:colId xmlns:a16="http://schemas.microsoft.com/office/drawing/2014/main" val="3860829432"/>
                    </a:ext>
                  </a:extLst>
                </a:gridCol>
              </a:tblGrid>
              <a:tr h="33289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欄位名稱 (Column)</a:t>
                      </a:r>
                    </a:p>
                  </a:txBody>
                  <a:tcPr marL="64168" marR="64168" marT="42778" marB="4277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欄位說明與定義</a:t>
                      </a:r>
                    </a:p>
                  </a:txBody>
                  <a:tcPr marL="64168" marR="64168" marT="42778" marB="4277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7289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TimeStamp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報表時間戳記，以下游門架時間戳記代表，此外即時與更新資料時間戳記代表的時間區間不同 - 即時資料：2024-01-01 10:00 代表時間區間為 2024-01-01 09:55~10:00 - 更新資料：2024-01-01 10:00 代表時間區間為 2024-01-01 10:00~10:05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2189134265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GantryFrom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上游門架編號，門架所在路段詳使用手冊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4205822527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GantryTo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br>
                        <a:rPr lang="zh-TW" altLang="en-US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</a:br>
                      <a:r>
                        <a:rPr lang="zh-TW" altLang="en-US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下游門架編號，門架所在路段詳使用手冊</a:t>
                      </a:r>
                    </a:p>
                  </a:txBody>
                  <a:tcPr marR="76200"/>
                </a:tc>
                <a:extLst>
                  <a:ext uri="{0D108BD9-81ED-4DB2-BD59-A6C34878D82A}">
                    <a16:rowId xmlns:a16="http://schemas.microsoft.com/office/drawing/2014/main" val="3110858471"/>
                  </a:ext>
                </a:extLst>
              </a:tr>
              <a:tr h="507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VehicleType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車種，31小客車、32小貨車、41大客車、42大貨車、5聯結車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2919609022"/>
                  </a:ext>
                </a:extLst>
              </a:tr>
              <a:tr h="507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Speed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中位數車速，計算單位為秒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3627606171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Volume</a:t>
                      </a:r>
                      <a:endParaRPr lang="zh-TW" altLang="en-US" sz="1500" kern="12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500"/>
                        </a:spcAft>
                        <a:buNone/>
                      </a:pPr>
                      <a:br>
                        <a:rPr lang="zh-TW" altLang="en-US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</a:br>
                      <a:r>
                        <a:rPr lang="zh-TW" altLang="en-US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交通量，時間區間內經過上下游門架之車流量總量</a:t>
                      </a:r>
                    </a:p>
                  </a:txBody>
                  <a:tcPr marR="76200"/>
                </a:tc>
                <a:extLst>
                  <a:ext uri="{0D108BD9-81ED-4DB2-BD59-A6C34878D82A}">
                    <a16:rowId xmlns:a16="http://schemas.microsoft.com/office/drawing/2014/main" val="356006098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AA77502F-21CA-A177-09E9-7EF856F0EDED}"/>
              </a:ext>
            </a:extLst>
          </p:cNvPr>
          <p:cNvSpPr txBox="1"/>
          <p:nvPr/>
        </p:nvSpPr>
        <p:spPr>
          <a:xfrm>
            <a:off x="489527" y="97500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來源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交通部高速公路局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M05A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4373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85E1C-A110-D1EB-D6E7-44FF3F41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526439-B113-1A68-EDB5-FB05307DFB5C}"/>
              </a:ext>
            </a:extLst>
          </p:cNvPr>
          <p:cNvSpPr txBox="1"/>
          <p:nvPr/>
        </p:nvSpPr>
        <p:spPr>
          <a:xfrm>
            <a:off x="609600" y="457200"/>
            <a:ext cx="2616101" cy="352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資料介紹</a:t>
            </a:r>
            <a:r>
              <a:rPr lang="en-US" altLang="zh-TW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天氣資料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AC21C033-6122-D73B-443B-D719D9489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1398"/>
              </p:ext>
            </p:extLst>
          </p:nvPr>
        </p:nvGraphicFramePr>
        <p:xfrm>
          <a:off x="665018" y="1610256"/>
          <a:ext cx="6216073" cy="338689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62860">
                  <a:extLst>
                    <a:ext uri="{9D8B030D-6E8A-4147-A177-3AD203B41FA5}">
                      <a16:colId xmlns:a16="http://schemas.microsoft.com/office/drawing/2014/main" val="3834008218"/>
                    </a:ext>
                  </a:extLst>
                </a:gridCol>
                <a:gridCol w="3953213">
                  <a:extLst>
                    <a:ext uri="{9D8B030D-6E8A-4147-A177-3AD203B41FA5}">
                      <a16:colId xmlns:a16="http://schemas.microsoft.com/office/drawing/2014/main" val="3860829432"/>
                    </a:ext>
                  </a:extLst>
                </a:gridCol>
              </a:tblGrid>
              <a:tr h="33289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欄位名稱 (Column)</a:t>
                      </a:r>
                    </a:p>
                  </a:txBody>
                  <a:tcPr marL="64168" marR="64168" marT="42778" marB="4277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500" kern="12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欄位說明與定義</a:t>
                      </a:r>
                    </a:p>
                  </a:txBody>
                  <a:tcPr marL="64168" marR="64168" marT="42778" marB="4277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7289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dirty="0" err="1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DateTime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algn="l" defTabSz="457200" rtl="0" eaLnBrk="1" fontAlgn="b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zh-TW" altLang="en-US" sz="1500" kern="12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日期與時間，每小時一筆資料（例如 </a:t>
                      </a:r>
                      <a:r>
                        <a:rPr lang="en-US" altLang="zh-TW" sz="1500" kern="12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2024-01-01 00:00</a:t>
                      </a:r>
                      <a:r>
                        <a:rPr lang="zh-TW" altLang="en-US" sz="1500" kern="12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）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9134265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dirty="0" err="1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Temperature_C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algn="l" defTabSz="457200" rtl="0" eaLnBrk="1" fontAlgn="b" latinLnBrk="0" hangingPunct="1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kern="12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 </a:t>
                      </a:r>
                      <a:r>
                        <a:rPr lang="zh-TW" altLang="en-US" sz="1500" kern="12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公尺氣溫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5822527"/>
                  </a:ext>
                </a:extLst>
              </a:tr>
              <a:tr h="67992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dirty="0" err="1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Dewpoint_C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 </a:t>
                      </a:r>
                      <a:r>
                        <a:rPr lang="zh-TW" altLang="en-US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公尺露點溫度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3110858471"/>
                  </a:ext>
                </a:extLst>
              </a:tr>
              <a:tr h="507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dirty="0" err="1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Precipitation_mm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zh-TW" altLang="en-US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過去 </a:t>
                      </a:r>
                      <a:r>
                        <a:rPr lang="en-US" altLang="zh-TW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 </a:t>
                      </a:r>
                      <a:r>
                        <a:rPr lang="zh-TW" altLang="en-US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小時累積降雨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2919609022"/>
                  </a:ext>
                </a:extLst>
              </a:tr>
              <a:tr h="507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dirty="0" err="1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WindSpeed_mps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US" altLang="zh-TW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 </a:t>
                      </a:r>
                      <a:r>
                        <a:rPr lang="zh-TW" altLang="en-US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公尺合成風速</a:t>
                      </a:r>
                      <a:r>
                        <a:rPr lang="en-US" altLang="zh-TW" sz="1500" dirty="0">
                          <a:solidFill>
                            <a:srgbClr val="1F1F1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(m/s)</a:t>
                      </a:r>
                      <a:endParaRPr lang="zh-TW" sz="1500" dirty="0">
                        <a:solidFill>
                          <a:srgbClr val="1F1F1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4168" marR="64168" marT="42778" marB="42778" anchor="ctr"/>
                </a:tc>
                <a:extLst>
                  <a:ext uri="{0D108BD9-81ED-4DB2-BD59-A6C34878D82A}">
                    <a16:rowId xmlns:a16="http://schemas.microsoft.com/office/drawing/2014/main" val="362760617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C1E60579-699D-D656-D9DC-C2674408DA73}"/>
              </a:ext>
            </a:extLst>
          </p:cNvPr>
          <p:cNvSpPr txBox="1"/>
          <p:nvPr/>
        </p:nvSpPr>
        <p:spPr>
          <a:xfrm>
            <a:off x="535709" y="994504"/>
            <a:ext cx="3532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來源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sz="1600" dirty="0"/>
              <a:t>The Climate Data Store (CDS)</a:t>
            </a:r>
            <a:r>
              <a:rPr lang="zh-TW" altLang="en-US" sz="1600" dirty="0"/>
              <a:t> </a:t>
            </a:r>
            <a:r>
              <a:rPr lang="en-US" altLang="zh-TW" sz="1600" dirty="0"/>
              <a:t>API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87207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F5D7-3C13-5DA5-7DBE-A331E7DE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A02109-0D43-547D-B317-F854808B7C2A}"/>
              </a:ext>
            </a:extLst>
          </p:cNvPr>
          <p:cNvSpPr txBox="1"/>
          <p:nvPr/>
        </p:nvSpPr>
        <p:spPr>
          <a:xfrm>
            <a:off x="609600" y="457200"/>
            <a:ext cx="416887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TW" altLang="en-US" sz="2400" b="1" i="0" u="none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資料預處理</a:t>
            </a:r>
            <a:r>
              <a:rPr lang="en-US" altLang="zh-TW" sz="2400" b="1" i="0" u="none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旅次路徑原始資料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25493CD-4F91-5122-E0F8-DC978893D612}"/>
              </a:ext>
            </a:extLst>
          </p:cNvPr>
          <p:cNvSpPr txBox="1"/>
          <p:nvPr/>
        </p:nvSpPr>
        <p:spPr>
          <a:xfrm>
            <a:off x="609600" y="1113668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發現有缺失資料檔案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3ECD925-00AC-D228-69B8-161EB81B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866295"/>
              </p:ext>
            </p:extLst>
          </p:nvPr>
        </p:nvGraphicFramePr>
        <p:xfrm>
          <a:off x="742336" y="1590888"/>
          <a:ext cx="4694903" cy="698373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115961">
                  <a:extLst>
                    <a:ext uri="{9D8B030D-6E8A-4147-A177-3AD203B41FA5}">
                      <a16:colId xmlns:a16="http://schemas.microsoft.com/office/drawing/2014/main" val="1732965001"/>
                    </a:ext>
                  </a:extLst>
                </a:gridCol>
                <a:gridCol w="1071716">
                  <a:extLst>
                    <a:ext uri="{9D8B030D-6E8A-4147-A177-3AD203B41FA5}">
                      <a16:colId xmlns:a16="http://schemas.microsoft.com/office/drawing/2014/main" val="251716917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566711709"/>
                    </a:ext>
                  </a:extLst>
                </a:gridCol>
                <a:gridCol w="1140542">
                  <a:extLst>
                    <a:ext uri="{9D8B030D-6E8A-4147-A177-3AD203B41FA5}">
                      <a16:colId xmlns:a16="http://schemas.microsoft.com/office/drawing/2014/main" val="1164038865"/>
                    </a:ext>
                  </a:extLst>
                </a:gridCol>
              </a:tblGrid>
              <a:tr h="193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SourceDate</a:t>
                      </a:r>
                      <a:endParaRPr lang="zh-TW" sz="14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SourceHour</a:t>
                      </a:r>
                      <a:endParaRPr lang="zh-TW" sz="14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IssueType</a:t>
                      </a:r>
                      <a:endParaRPr lang="zh-TW" sz="1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FilePath</a:t>
                      </a:r>
                      <a:endParaRPr lang="zh-TW" sz="14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1230931"/>
                  </a:ext>
                </a:extLst>
              </a:tr>
              <a:tr h="193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20240116</a:t>
                      </a:r>
                      <a:endParaRPr lang="zh-TW" sz="14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13</a:t>
                      </a:r>
                      <a:endParaRPr lang="zh-TW" sz="1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SOURCE_EMPTY</a:t>
                      </a:r>
                      <a:endParaRPr lang="zh-TW" sz="14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...130000.csv</a:t>
                      </a:r>
                      <a:endParaRPr lang="zh-TW" sz="1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057721"/>
                  </a:ext>
                </a:extLst>
              </a:tr>
              <a:tr h="193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20240116</a:t>
                      </a:r>
                      <a:endParaRPr lang="zh-TW" sz="1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14</a:t>
                      </a:r>
                      <a:endParaRPr lang="zh-TW" sz="1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SOURCE_EMPTY</a:t>
                      </a:r>
                      <a:endParaRPr lang="zh-TW" sz="14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...140000.csv</a:t>
                      </a:r>
                      <a:endParaRPr lang="zh-TW" sz="14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71670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0AD63ED0-D58F-EF0A-43DB-F00B5ABC832B}"/>
              </a:ext>
            </a:extLst>
          </p:cNvPr>
          <p:cNvSpPr txBox="1"/>
          <p:nvPr/>
        </p:nvSpPr>
        <p:spPr>
          <a:xfrm>
            <a:off x="609600" y="2635011"/>
            <a:ext cx="5314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發現有資料欄位異常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(20250228)—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僅列出部分異常資料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0F1122C-547F-85A0-7374-5CF40FEA5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108439"/>
              </p:ext>
            </p:extLst>
          </p:nvPr>
        </p:nvGraphicFramePr>
        <p:xfrm>
          <a:off x="742336" y="3112231"/>
          <a:ext cx="5917082" cy="2165863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671990">
                  <a:extLst>
                    <a:ext uri="{9D8B030D-6E8A-4147-A177-3AD203B41FA5}">
                      <a16:colId xmlns:a16="http://schemas.microsoft.com/office/drawing/2014/main" val="1191114492"/>
                    </a:ext>
                  </a:extLst>
                </a:gridCol>
                <a:gridCol w="1106108">
                  <a:extLst>
                    <a:ext uri="{9D8B030D-6E8A-4147-A177-3AD203B41FA5}">
                      <a16:colId xmlns:a16="http://schemas.microsoft.com/office/drawing/2014/main" val="686006324"/>
                    </a:ext>
                  </a:extLst>
                </a:gridCol>
                <a:gridCol w="1403449">
                  <a:extLst>
                    <a:ext uri="{9D8B030D-6E8A-4147-A177-3AD203B41FA5}">
                      <a16:colId xmlns:a16="http://schemas.microsoft.com/office/drawing/2014/main" val="3419549209"/>
                    </a:ext>
                  </a:extLst>
                </a:gridCol>
                <a:gridCol w="999064">
                  <a:extLst>
                    <a:ext uri="{9D8B030D-6E8A-4147-A177-3AD203B41FA5}">
                      <a16:colId xmlns:a16="http://schemas.microsoft.com/office/drawing/2014/main" val="2017203024"/>
                    </a:ext>
                  </a:extLst>
                </a:gridCol>
                <a:gridCol w="1736471">
                  <a:extLst>
                    <a:ext uri="{9D8B030D-6E8A-4147-A177-3AD203B41FA5}">
                      <a16:colId xmlns:a16="http://schemas.microsoft.com/office/drawing/2014/main" val="3925754315"/>
                    </a:ext>
                  </a:extLst>
                </a:gridCol>
              </a:tblGrid>
              <a:tr h="1655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小時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異常行號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正常應有欄數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實際欄數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狀況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7708365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00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48204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截斷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9346000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05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49918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9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4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截斷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7968048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06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94643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17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兩筆疑似黏在一起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2644745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07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135604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9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17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兩筆疑似黏在一起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4495938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08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146688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17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兩筆疑似黏在一起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001922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162185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13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紀錄接合異常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8483682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162215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截斷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4327731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172873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9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17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兩筆疑似黏在一起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0369126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11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168006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17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兩筆疑似黏在一起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8257769"/>
                  </a:ext>
                </a:extLst>
              </a:tr>
              <a:tr h="1681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158245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17</a:t>
                      </a:r>
                      <a:endParaRPr lang="zh-TW" sz="12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兩筆疑似黏在一起</a:t>
                      </a:r>
                      <a:endParaRPr lang="zh-TW" sz="12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91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515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1C5F-E67F-B2E7-335C-77FD3F20A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7998D2-64BF-1158-80F6-9D3773F50737}"/>
              </a:ext>
            </a:extLst>
          </p:cNvPr>
          <p:cNvSpPr txBox="1"/>
          <p:nvPr/>
        </p:nvSpPr>
        <p:spPr>
          <a:xfrm>
            <a:off x="609600" y="457200"/>
            <a:ext cx="416887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TW" altLang="en-US" sz="2400" b="1" i="0" u="none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資料預處理</a:t>
            </a:r>
            <a:r>
              <a:rPr lang="en-US" altLang="zh-TW" sz="2400" b="1" i="0" u="none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4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旅次路徑原始資料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B48E80E-18DC-1694-72F4-63ECDC995421}"/>
              </a:ext>
            </a:extLst>
          </p:cNvPr>
          <p:cNvSpPr txBox="1"/>
          <p:nvPr/>
        </p:nvSpPr>
        <p:spPr>
          <a:xfrm>
            <a:off x="698089" y="2808300"/>
            <a:ext cx="31598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欄位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VehicleType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有不合理類別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zh-TW" sz="1600" dirty="0">
              <a:solidFill>
                <a:srgbClr val="1F1F1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DDAFE89-04D5-777B-09FB-A660F6DF3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496495"/>
              </p:ext>
            </p:extLst>
          </p:nvPr>
        </p:nvGraphicFramePr>
        <p:xfrm>
          <a:off x="766916" y="3363291"/>
          <a:ext cx="9419302" cy="28341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477">
                  <a:extLst>
                    <a:ext uri="{9D8B030D-6E8A-4147-A177-3AD203B41FA5}">
                      <a16:colId xmlns:a16="http://schemas.microsoft.com/office/drawing/2014/main" val="2923837323"/>
                    </a:ext>
                  </a:extLst>
                </a:gridCol>
                <a:gridCol w="1351208">
                  <a:extLst>
                    <a:ext uri="{9D8B030D-6E8A-4147-A177-3AD203B41FA5}">
                      <a16:colId xmlns:a16="http://schemas.microsoft.com/office/drawing/2014/main" val="3620185331"/>
                    </a:ext>
                  </a:extLst>
                </a:gridCol>
                <a:gridCol w="1684117">
                  <a:extLst>
                    <a:ext uri="{9D8B030D-6E8A-4147-A177-3AD203B41FA5}">
                      <a16:colId xmlns:a16="http://schemas.microsoft.com/office/drawing/2014/main" val="124953224"/>
                    </a:ext>
                  </a:extLst>
                </a:gridCol>
                <a:gridCol w="812683">
                  <a:extLst>
                    <a:ext uri="{9D8B030D-6E8A-4147-A177-3AD203B41FA5}">
                      <a16:colId xmlns:a16="http://schemas.microsoft.com/office/drawing/2014/main" val="3806588190"/>
                    </a:ext>
                  </a:extLst>
                </a:gridCol>
                <a:gridCol w="626649">
                  <a:extLst>
                    <a:ext uri="{9D8B030D-6E8A-4147-A177-3AD203B41FA5}">
                      <a16:colId xmlns:a16="http://schemas.microsoft.com/office/drawing/2014/main" val="1571399116"/>
                    </a:ext>
                  </a:extLst>
                </a:gridCol>
                <a:gridCol w="822476">
                  <a:extLst>
                    <a:ext uri="{9D8B030D-6E8A-4147-A177-3AD203B41FA5}">
                      <a16:colId xmlns:a16="http://schemas.microsoft.com/office/drawing/2014/main" val="897587191"/>
                    </a:ext>
                  </a:extLst>
                </a:gridCol>
                <a:gridCol w="744144">
                  <a:extLst>
                    <a:ext uri="{9D8B030D-6E8A-4147-A177-3AD203B41FA5}">
                      <a16:colId xmlns:a16="http://schemas.microsoft.com/office/drawing/2014/main" val="2110892177"/>
                    </a:ext>
                  </a:extLst>
                </a:gridCol>
                <a:gridCol w="636439">
                  <a:extLst>
                    <a:ext uri="{9D8B030D-6E8A-4147-A177-3AD203B41FA5}">
                      <a16:colId xmlns:a16="http://schemas.microsoft.com/office/drawing/2014/main" val="676136225"/>
                    </a:ext>
                  </a:extLst>
                </a:gridCol>
                <a:gridCol w="665813">
                  <a:extLst>
                    <a:ext uri="{9D8B030D-6E8A-4147-A177-3AD203B41FA5}">
                      <a16:colId xmlns:a16="http://schemas.microsoft.com/office/drawing/2014/main" val="246991227"/>
                    </a:ext>
                  </a:extLst>
                </a:gridCol>
                <a:gridCol w="587483">
                  <a:extLst>
                    <a:ext uri="{9D8B030D-6E8A-4147-A177-3AD203B41FA5}">
                      <a16:colId xmlns:a16="http://schemas.microsoft.com/office/drawing/2014/main" val="2920394712"/>
                    </a:ext>
                  </a:extLst>
                </a:gridCol>
                <a:gridCol w="665813">
                  <a:extLst>
                    <a:ext uri="{9D8B030D-6E8A-4147-A177-3AD203B41FA5}">
                      <a16:colId xmlns:a16="http://schemas.microsoft.com/office/drawing/2014/main" val="3153099526"/>
                    </a:ext>
                  </a:extLst>
                </a:gridCol>
              </a:tblGrid>
              <a:tr h="437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/>
                        <a:t>Date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/>
                        <a:t>Label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Route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Direction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Trips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Veh_31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Veh_32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Veh_41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Veh_42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Veh_5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Veh_0</a:t>
                      </a:r>
                    </a:p>
                  </a:txBody>
                  <a:tcPr marL="42299" marR="42299" marT="21149" marB="2114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471457"/>
                  </a:ext>
                </a:extLst>
              </a:tr>
              <a:tr h="560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2024/1/1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國3 大溪→龍潭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/>
                        <a:t>N3_Daxi_Longtan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/>
                        <a:t>S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67317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53806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11399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701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794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616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1</a:t>
                      </a:r>
                    </a:p>
                  </a:txBody>
                  <a:tcPr marL="42299" marR="42299" marT="21149" marB="2114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674409"/>
                  </a:ext>
                </a:extLst>
              </a:tr>
              <a:tr h="560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2024/1/1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國3 龍潭→大溪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/>
                        <a:t>N3_Daxi_Longtan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N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78827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62257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14556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650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743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619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2</a:t>
                      </a:r>
                    </a:p>
                  </a:txBody>
                  <a:tcPr marL="42299" marR="42299" marT="21149" marB="2114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921917"/>
                  </a:ext>
                </a:extLst>
              </a:tr>
              <a:tr h="637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2024/1/1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國5 坪林→頭城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N5_Pinglin_Toucheng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S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25153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19590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4488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1052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2</a:t>
                      </a:r>
                    </a:p>
                  </a:txBody>
                  <a:tcPr marL="42299" marR="42299" marT="21149" marB="2114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202153"/>
                  </a:ext>
                </a:extLst>
              </a:tr>
              <a:tr h="637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2024/1/1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國5 頭城→坪林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N5_Pinglin_Toucheng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/>
                        <a:t>N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40022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31858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6826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1325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12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/>
                        <a:t>0</a:t>
                      </a:r>
                    </a:p>
                  </a:txBody>
                  <a:tcPr marL="42299" marR="42299" marT="21149" marB="2114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sz="1400" dirty="0"/>
                        <a:t>1</a:t>
                      </a:r>
                    </a:p>
                  </a:txBody>
                  <a:tcPr marL="42299" marR="42299" marT="21149" marB="2114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8107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726FE172-2047-45CF-3D47-7094A14C2600}"/>
              </a:ext>
            </a:extLst>
          </p:cNvPr>
          <p:cNvSpPr txBox="1"/>
          <p:nvPr/>
        </p:nvSpPr>
        <p:spPr>
          <a:xfrm>
            <a:off x="698090" y="1012893"/>
            <a:ext cx="1307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3.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資料篩選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681CD8-4F97-31D2-1618-37F2106D19C7}"/>
              </a:ext>
            </a:extLst>
          </p:cNvPr>
          <p:cNvSpPr/>
          <p:nvPr/>
        </p:nvSpPr>
        <p:spPr>
          <a:xfrm>
            <a:off x="2098144" y="1456543"/>
            <a:ext cx="3286656" cy="11682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1.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國3 大溪→龍潭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(03F0648S)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1600" dirty="0"/>
              <a:t>2.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國3 龍潭→大溪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(03F0648N)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1600" dirty="0"/>
              <a:t>3.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國5 坪林→頭城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(05F0287S)</a:t>
            </a:r>
          </a:p>
          <a:p>
            <a:pPr algn="ctr"/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國5 頭城→坪林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(05F0287N)</a:t>
            </a:r>
          </a:p>
        </p:txBody>
      </p:sp>
    </p:spTree>
    <p:extLst>
      <p:ext uri="{BB962C8B-B14F-4D97-AF65-F5344CB8AC3E}">
        <p14:creationId xmlns:p14="http://schemas.microsoft.com/office/powerpoint/2010/main" val="110213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2400" b="1">
                <a:solidFill>
                  <a:srgbClr val="111827"/>
                </a:solidFill>
                <a:latin typeface="Microsoft JhengHei"/>
              </a:defRPr>
            </a:pP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分析方法與驗證策略規劃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1234440" cy="36576"/>
          </a:xfrm>
          <a:prstGeom prst="rect">
            <a:avLst/>
          </a:prstGeom>
          <a:solidFill>
            <a:srgbClr val="00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475569"/>
                </a:solidFill>
                <a:latin typeface="Microsoft JhengHei"/>
              </a:defRPr>
            </a:pP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依據「誰造成需求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 → </a:t>
            </a: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情境型態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 → </a:t>
            </a: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未來預測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 → </a:t>
            </a: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應用資訊」逐層建立分析流程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3328" y="1353312"/>
            <a:ext cx="10972" cy="5074920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53896"/>
            <a:ext cx="54864" cy="1344168"/>
          </a:xfrm>
          <a:prstGeom prst="rect">
            <a:avLst/>
          </a:prstGeom>
          <a:solidFill>
            <a:srgbClr val="00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0664" y="1435608"/>
            <a:ext cx="292608" cy="292608"/>
          </a:xfrm>
          <a:prstGeom prst="ellipse">
            <a:avLst/>
          </a:prstGeom>
          <a:solidFill>
            <a:srgbClr val="E8F5FC"/>
          </a:solidFill>
          <a:ln w="13970">
            <a:solidFill>
              <a:srgbClr val="008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85CE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408176"/>
            <a:ext cx="47091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1300" b="1">
                <a:solidFill>
                  <a:srgbClr val="111827"/>
                </a:solidFill>
                <a:latin typeface="Microsoft JhengHei"/>
              </a:defRPr>
            </a:pP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Descriptive｜哪些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形成瓶頸需求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783080"/>
            <a:ext cx="4727448" cy="1051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篩選通過瓶頸路段之旅次，重建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Origin–Destination。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統計主要來源地／目的地、車流量占比與瓶頸時段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產出：Top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OD、每日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時間曲線、瓶頸車流組成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35808"/>
            <a:ext cx="54864" cy="1554480"/>
          </a:xfrm>
          <a:prstGeom prst="rect">
            <a:avLst/>
          </a:prstGeom>
          <a:solidFill>
            <a:srgbClr val="00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0664" y="3017520"/>
            <a:ext cx="292608" cy="292608"/>
          </a:xfrm>
          <a:prstGeom prst="ellipse">
            <a:avLst/>
          </a:prstGeom>
          <a:solidFill>
            <a:srgbClr val="E8F5FC"/>
          </a:solidFill>
          <a:ln w="13970">
            <a:solidFill>
              <a:srgbClr val="008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85CE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990088"/>
            <a:ext cx="47091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1300" b="1">
                <a:solidFill>
                  <a:srgbClr val="111827"/>
                </a:solidFill>
                <a:latin typeface="Microsoft JhengHei"/>
              </a:defRPr>
            </a:pP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Pattern </a:t>
            </a: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Discovery｜不同情境下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如何改變</a:t>
            </a:r>
            <a:r>
              <a:rPr dirty="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364991"/>
            <a:ext cx="4727448" cy="1261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依平日、週末、連假階段、晴雨天分組比較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觀察尖峰時間、需求規模與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temporal profile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差異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可進一步以每日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曲線分群：上午出遊、下午返程、全天高需求等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992624"/>
            <a:ext cx="54864" cy="1069848"/>
          </a:xfrm>
          <a:prstGeom prst="rect">
            <a:avLst/>
          </a:prstGeom>
          <a:solidFill>
            <a:srgbClr val="00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0664" y="4974336"/>
            <a:ext cx="292608" cy="292608"/>
          </a:xfrm>
          <a:prstGeom prst="ellipse">
            <a:avLst/>
          </a:prstGeom>
          <a:solidFill>
            <a:srgbClr val="E8F5FC"/>
          </a:solidFill>
          <a:ln w="13970">
            <a:solidFill>
              <a:srgbClr val="008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85CE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4946904"/>
            <a:ext cx="47091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11827"/>
                </a:solidFill>
                <a:latin typeface="Microsoft JhengHei"/>
              </a:defRPr>
            </a:pPr>
            <a:r>
              <a:rPr sz="13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驗證策略｜以時間順序檢視預測能力</a:t>
            </a:r>
            <a:endParaRPr sz="1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6424" y="5321808"/>
            <a:ext cx="4727448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03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以前期年份作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Training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Data，最後一年作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Testing Data。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3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比較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15／30／60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分鐘不同預測提前時間的表現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453896"/>
            <a:ext cx="54864" cy="1499616"/>
          </a:xfrm>
          <a:prstGeom prst="rect">
            <a:avLst/>
          </a:prstGeom>
          <a:solidFill>
            <a:srgbClr val="00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9944" y="1435608"/>
            <a:ext cx="292608" cy="292608"/>
          </a:xfrm>
          <a:prstGeom prst="ellipse">
            <a:avLst/>
          </a:prstGeom>
          <a:solidFill>
            <a:srgbClr val="E8F5FC"/>
          </a:solidFill>
          <a:ln w="13970">
            <a:solidFill>
              <a:srgbClr val="008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85CE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1408176"/>
            <a:ext cx="4800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1300" b="1">
                <a:solidFill>
                  <a:srgbClr val="111827"/>
                </a:solidFill>
                <a:latin typeface="Microsoft JhengHei"/>
              </a:defRPr>
            </a:pP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Prediction｜從描述轉為預測未來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75704" y="1783080"/>
            <a:ext cx="4818888" cy="12070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Prediction 1：歷史 OD +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交通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+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氣象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+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日期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→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未來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Prediction 2：預測 OD +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即時交通狀態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→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未來速度／壅塞風險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50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同時保留「未來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OD」與「未來交通狀態」兩種輸出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346704"/>
            <a:ext cx="54864" cy="2084831"/>
          </a:xfrm>
          <a:prstGeom prst="rect">
            <a:avLst/>
          </a:prstGeom>
          <a:solidFill>
            <a:srgbClr val="00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9944" y="3328416"/>
            <a:ext cx="292608" cy="292608"/>
          </a:xfrm>
          <a:prstGeom prst="ellipse">
            <a:avLst/>
          </a:prstGeom>
          <a:solidFill>
            <a:srgbClr val="E8F5FC"/>
          </a:solidFill>
          <a:ln w="13970">
            <a:solidFill>
              <a:srgbClr val="008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85CE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3300984"/>
            <a:ext cx="4800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11827"/>
                </a:solidFill>
                <a:latin typeface="Microsoft JhengHei"/>
              </a:defRPr>
            </a:pPr>
            <a:r>
              <a:rPr sz="1300" dirty="0">
                <a:latin typeface="標楷體" panose="03000509000000000000" pitchFamily="65" charset="-120"/>
                <a:ea typeface="標楷體" panose="03000509000000000000" pitchFamily="65" charset="-120"/>
              </a:rPr>
              <a:t>Application &amp; </a:t>
            </a:r>
            <a:r>
              <a:rPr sz="13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Dashboard｜把預測轉成決策資訊</a:t>
            </a:r>
            <a:endParaRPr sz="1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75704" y="3675888"/>
            <a:ext cx="4818888" cy="17922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019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呈現高風險時段、主要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來源、預測速度與壅塞風險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19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回答：什麼時候可能塞？主要哪裡來的車？需求會增加多少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19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加入主要影響因素：近期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增加、速度下降、連假、降雨等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019">
                <a:solidFill>
                  <a:srgbClr val="475569"/>
                </a:solidFill>
                <a:latin typeface="Microsoft JhengHei"/>
              </a:defRPr>
            </a:pPr>
            <a:r>
              <a:rPr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作為路況發布、分流宣導與疏運規劃的參考</a:t>
            </a:r>
            <a:r>
              <a:rPr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715000"/>
            <a:ext cx="5349240" cy="53035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6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5815584"/>
            <a:ext cx="48920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defRPr sz="1060" b="1">
                <a:solidFill>
                  <a:srgbClr val="111827"/>
                </a:solidFill>
                <a:latin typeface="Microsoft JhengHei"/>
              </a:defRPr>
            </a:pPr>
            <a:r>
              <a:rPr sz="1050">
                <a:latin typeface="標楷體" panose="03000509000000000000" pitchFamily="65" charset="-120"/>
                <a:ea typeface="標楷體" panose="03000509000000000000" pitchFamily="65" charset="-120"/>
              </a:rPr>
              <a:t>重點：不是單純比較模型，而是檢驗 OD 資訊能否提升瓶頸預警與應用價值。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84048"/>
            <a:ext cx="107899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預期</a:t>
            </a:r>
            <a:r>
              <a:rPr sz="2400" b="1" dirty="0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sz="240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Dashboard：從預測結果到決策支援</a:t>
            </a:r>
            <a:endParaRPr sz="2400" b="1" dirty="0">
              <a:solidFill>
                <a:srgbClr val="14254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648" y="786384"/>
            <a:ext cx="1005840" cy="45720"/>
          </a:xfrm>
          <a:prstGeom prst="rect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把前面的</a:t>
            </a:r>
            <a:r>
              <a:rPr sz="14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4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分析與預測結果，轉成可以被操作、比較與解讀的交通資訊</a:t>
            </a:r>
            <a:r>
              <a:rPr sz="14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81328"/>
            <a:ext cx="3154680" cy="1417320"/>
          </a:xfrm>
          <a:prstGeom prst="roundRect">
            <a:avLst/>
          </a:prstGeom>
          <a:solidFill>
            <a:srgbClr val="F7FAFD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00200"/>
            <a:ext cx="292608" cy="292608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36776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618488"/>
            <a:ext cx="2587752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輸入條件</a:t>
            </a:r>
            <a:endParaRPr sz="1250" b="1" dirty="0">
              <a:solidFill>
                <a:srgbClr val="14254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1832" y="1965960"/>
            <a:ext cx="2825496" cy="618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日期／時間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
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假別／天候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
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路段／方向</a:t>
            </a:r>
            <a:endParaRPr sz="1200" b="0" dirty="0">
              <a:solidFill>
                <a:srgbClr val="4A5568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005072" y="2194560"/>
            <a:ext cx="448056" cy="0"/>
          </a:xfrm>
          <a:prstGeom prst="line">
            <a:avLst/>
          </a:prstGeom>
          <a:ln w="16510">
            <a:solidFill>
              <a:srgbClr val="9BA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26280" y="1481328"/>
            <a:ext cx="3154680" cy="1417320"/>
          </a:xfrm>
          <a:prstGeom prst="roundRect">
            <a:avLst/>
          </a:prstGeom>
          <a:solidFill>
            <a:srgbClr val="F7FAFD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36008" y="1600200"/>
            <a:ext cx="292608" cy="292608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636776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618488"/>
            <a:ext cx="2587752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模型預測</a:t>
            </a:r>
            <a:endParaRPr sz="1250" b="1" dirty="0">
              <a:solidFill>
                <a:srgbClr val="14254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90872" y="1965960"/>
            <a:ext cx="2825496" cy="618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未來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
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預測速度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
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壅塞風險</a:t>
            </a:r>
            <a:endParaRPr sz="1200" b="0" dirty="0">
              <a:solidFill>
                <a:srgbClr val="4A5568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754112" y="2194560"/>
            <a:ext cx="448056" cy="0"/>
          </a:xfrm>
          <a:prstGeom prst="line">
            <a:avLst/>
          </a:prstGeom>
          <a:ln w="16510">
            <a:solidFill>
              <a:srgbClr val="9BA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1481328"/>
            <a:ext cx="3154680" cy="1417320"/>
          </a:xfrm>
          <a:prstGeom prst="roundRect">
            <a:avLst/>
          </a:prstGeom>
          <a:solidFill>
            <a:srgbClr val="F7FAFD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85048" y="1600200"/>
            <a:ext cx="292608" cy="292608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1636776"/>
            <a:ext cx="29260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1618488"/>
            <a:ext cx="2587752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決策資訊</a:t>
            </a:r>
            <a:endParaRPr sz="1250" b="1" dirty="0">
              <a:solidFill>
                <a:srgbClr val="14254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39912" y="1965960"/>
            <a:ext cx="2825496" cy="618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高風險時段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
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主要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來源</a:t>
            </a:r>
            <a:r>
              <a:rPr sz="120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
</a:t>
            </a:r>
            <a:r>
              <a:rPr sz="120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可能影響因素</a:t>
            </a:r>
            <a:endParaRPr sz="1200" b="0" dirty="0">
              <a:solidFill>
                <a:srgbClr val="4A5568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Dashboard </a:t>
            </a:r>
            <a:r>
              <a:rPr sz="150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可以回答的問題</a:t>
            </a:r>
            <a:endParaRPr sz="1500" b="1" dirty="0">
              <a:solidFill>
                <a:srgbClr val="14254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22960" y="3685031"/>
            <a:ext cx="228600" cy="228600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707891"/>
            <a:ext cx="228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666744"/>
            <a:ext cx="3017520" cy="2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什麼時候可能塞</a:t>
            </a:r>
            <a:r>
              <a:rPr sz="1180" b="1" dirty="0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66744"/>
            <a:ext cx="7315200" cy="258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顯示未來</a:t>
            </a:r>
            <a:r>
              <a:rPr sz="108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15／30／60 </a:t>
            </a:r>
            <a:r>
              <a:rPr sz="108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分鐘的速度與壅塞風險</a:t>
            </a:r>
            <a:r>
              <a:rPr sz="108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114799"/>
            <a:ext cx="228600" cy="228600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137659"/>
            <a:ext cx="228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96511"/>
            <a:ext cx="3017520" cy="2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主要是哪裡來的車</a:t>
            </a:r>
            <a:r>
              <a:rPr sz="1180" b="1" dirty="0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096511"/>
            <a:ext cx="7315200" cy="258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列出未來需求最高的</a:t>
            </a:r>
            <a:r>
              <a:rPr sz="108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OD </a:t>
            </a:r>
            <a:r>
              <a:rPr sz="1080" b="0" dirty="0" err="1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來源與目的地</a:t>
            </a:r>
            <a:r>
              <a:rPr sz="1080" b="0" dirty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4544567"/>
            <a:ext cx="228600" cy="228600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567427"/>
            <a:ext cx="228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526279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80" b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t>未來 OD 需求增加多少？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526279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080" b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t>比較各 OD 在不同時間點的預測旅次量。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974336"/>
            <a:ext cx="228600" cy="228600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997196"/>
            <a:ext cx="228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4956048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80" b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dirty="0" err="1"/>
              <a:t>壅塞風險由哪些因素造成</a:t>
            </a:r>
            <a:r>
              <a:rPr dirty="0"/>
              <a:t>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495604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080" b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t>呈現 OD 增加、速度下降、連假、降雨等可能因素。</a:t>
            </a:r>
          </a:p>
        </p:txBody>
      </p:sp>
      <p:sp>
        <p:nvSpPr>
          <p:cNvPr id="39" name="Oval 38"/>
          <p:cNvSpPr/>
          <p:nvPr/>
        </p:nvSpPr>
        <p:spPr>
          <a:xfrm>
            <a:off x="822960" y="5404103"/>
            <a:ext cx="228600" cy="228600"/>
          </a:xfrm>
          <a:prstGeom prst="ellipse">
            <a:avLst/>
          </a:prstGeom>
          <a:solidFill>
            <a:srgbClr val="00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426964"/>
            <a:ext cx="228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385816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80" b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dirty="0" err="1"/>
              <a:t>何時適合提前發布資訊</a:t>
            </a:r>
            <a:r>
              <a:rPr dirty="0"/>
              <a:t>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5385816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080" b="0">
                <a:solidFill>
                  <a:srgbClr val="4A5568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t>將高風險時段轉成路況發布與疏運規劃參考。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897880"/>
            <a:ext cx="10698480" cy="502920"/>
          </a:xfrm>
          <a:prstGeom prst="roundRect">
            <a:avLst/>
          </a:prstGeom>
          <a:solidFill>
            <a:srgbClr val="EF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" y="5984134"/>
            <a:ext cx="64008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 err="1">
                <a:solidFill>
                  <a:srgbClr val="0084D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重點</a:t>
            </a:r>
            <a:endParaRPr sz="1250" b="1" dirty="0">
              <a:solidFill>
                <a:srgbClr val="0084D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00200" y="5996400"/>
            <a:ext cx="96012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 err="1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不只呈現目前路況，而是提前回答「何時可能壅塞、主要車流來源為何、哪些因素造成風險</a:t>
            </a:r>
            <a:r>
              <a:rPr sz="1150" b="0" dirty="0">
                <a:solidFill>
                  <a:srgbClr val="14254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216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0216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4001095" cy="3524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小組時程規劃與課程進度對應</a:t>
            </a:r>
            <a:endParaRPr sz="2400" b="1" i="0" u="none" dirty="0">
              <a:solidFill>
                <a:srgbClr val="0F172A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6300" y="3268860"/>
            <a:ext cx="216405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Now ~ </a:t>
            </a:r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十月中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(</a:t>
            </a:r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文獻與探索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73660"/>
            <a:ext cx="30670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資料清洗、探索性資料分析（EDA</a:t>
            </a:r>
            <a:r>
              <a:rPr sz="1350" b="0" i="0" u="none" dirty="0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）、</a:t>
            </a:r>
            <a:endParaRPr lang="en-US" sz="1350" b="0" i="0" u="none" dirty="0">
              <a:solidFill>
                <a:srgbClr val="475569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sz="1350" b="0" i="0" u="none" dirty="0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文獻閱讀與方法初步安排（對應10/8-10/22口頭報告）。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68860"/>
            <a:ext cx="242374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十月中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~ </a:t>
            </a:r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十一月初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(</a:t>
            </a:r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模型建構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73660"/>
            <a:ext cx="30670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方法測試與初步模型建構，執行跨年度資料切分與驗證（對應10/29-11/12第一次進度報告）。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68860"/>
            <a:ext cx="276998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十一月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~ </a:t>
            </a:r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十二月中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(</a:t>
            </a:r>
            <a:r>
              <a:rPr sz="1350" b="1" i="0" u="none" dirty="0" err="1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儀表板與成效</a:t>
            </a:r>
            <a:r>
              <a:rPr sz="1350" b="1" i="0" u="none" dirty="0">
                <a:solidFill>
                  <a:srgbClr val="0284C7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73660"/>
            <a:ext cx="30670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方法改進、儀表板設定、結果整理與海報製作（對應第二次與第三次進度報告及海報展示</a:t>
            </a:r>
            <a:r>
              <a:rPr sz="1350" b="0" i="0" u="none" dirty="0">
                <a:solidFill>
                  <a:srgbClr val="47556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CA79015-E1E9-BC73-8898-A01DE8A7099D}"/>
              </a:ext>
            </a:extLst>
          </p:cNvPr>
          <p:cNvSpPr txBox="1"/>
          <p:nvPr/>
        </p:nvSpPr>
        <p:spPr>
          <a:xfrm>
            <a:off x="4779818" y="2598003"/>
            <a:ext cx="2632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感謝聆聽</a:t>
            </a:r>
          </a:p>
        </p:txBody>
      </p:sp>
    </p:spTree>
    <p:extLst>
      <p:ext uri="{BB962C8B-B14F-4D97-AF65-F5344CB8AC3E}">
        <p14:creationId xmlns:p14="http://schemas.microsoft.com/office/powerpoint/2010/main" val="174750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1424</Words>
  <Application>Microsoft Office PowerPoint</Application>
  <PresentationFormat>寬螢幕</PresentationFormat>
  <Paragraphs>286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Microsoft JhengHei</vt:lpstr>
      <vt:lpstr>Noto Sans TC</vt:lpstr>
      <vt:lpstr>Arial</vt:lpstr>
      <vt:lpstr>Aptos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鄭筱蓓</cp:lastModifiedBy>
  <cp:revision>8</cp:revision>
  <dcterms:created xsi:type="dcterms:W3CDTF">2013-01-27T09:14:16Z</dcterms:created>
  <dcterms:modified xsi:type="dcterms:W3CDTF">2026-10-01T04:11:43Z</dcterms:modified>
  <cp:category/>
</cp:coreProperties>
</file>